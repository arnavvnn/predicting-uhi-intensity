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5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F7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D49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874519"/>
            <a:ext cx="12188952" cy="3108960"/>
          </a:xfrm>
          <a:prstGeom prst="rect">
            <a:avLst/>
          </a:prstGeom>
          <a:solidFill>
            <a:srgbClr val="1C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993392"/>
            <a:ext cx="1100023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Predicting Urban Heat Island Severity in Bengaluru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907792"/>
            <a:ext cx="110002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8E4EA"/>
                </a:solidFill>
                <a:latin typeface="Calibri"/>
              </a:rPr>
              <a:t>Ensemble Machine Learning on Satellite, Urban Morphology &amp; Socioeconomic Data</a:t>
            </a:r>
          </a:p>
        </p:txBody>
      </p:sp>
      <p:sp>
        <p:nvSpPr>
          <p:cNvPr id="8" name="Rectangle 7"/>
          <p:cNvSpPr/>
          <p:nvPr/>
        </p:nvSpPr>
        <p:spPr>
          <a:xfrm>
            <a:off x="4023360" y="3730752"/>
            <a:ext cx="4142232" cy="41148"/>
          </a:xfrm>
          <a:prstGeom prst="rect">
            <a:avLst/>
          </a:prstGeom>
          <a:solidFill>
            <a:srgbClr val="D49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3913632"/>
            <a:ext cx="1100023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Arnav Nathani  ·  Sahil Aleem  ·  Vayun Gupta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443984"/>
            <a:ext cx="110002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8B2C6"/>
                </a:solidFill>
                <a:latin typeface="Calibri"/>
              </a:rPr>
              <a:t>MLPR End-Term Project  ·  Plaksha University  ·  Spring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5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F7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D49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166360" y="1481328"/>
            <a:ext cx="1856231" cy="594360"/>
          </a:xfrm>
          <a:prstGeom prst="rect">
            <a:avLst/>
          </a:prstGeom>
          <a:solidFill>
            <a:srgbClr val="1F7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66360" y="1499616"/>
            <a:ext cx="1856231" cy="557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SECTION 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31720"/>
            <a:ext cx="1081735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Introduction &amp; Motivation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749039"/>
            <a:ext cx="94457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C8E4EA"/>
                </a:solidFill>
                <a:latin typeface="Calibri"/>
              </a:rPr>
              <a:t>The Urban Heat Island Problem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5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64008" cy="5943600"/>
          </a:xfrm>
          <a:prstGeom prst="rect">
            <a:avLst/>
          </a:prstGeom>
          <a:solidFill>
            <a:srgbClr val="1F7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16852"/>
            <a:ext cx="12188952" cy="41148"/>
          </a:xfrm>
          <a:prstGeom prst="rect">
            <a:avLst/>
          </a:prstGeom>
          <a:solidFill>
            <a:srgbClr val="D49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09728"/>
            <a:ext cx="1164031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Why Cities Are Getting Hotter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987552"/>
            <a:ext cx="11640312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Global average temperature has risen ~1.1 °C — but cities run 2–5 °C hotter than surroundings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Urban Heat Island (UHI) effect: a persistent phenomenon in every major city on Earth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600" b="1" i="0">
                <a:solidFill>
                  <a:srgbClr val="1F788A"/>
                </a:solidFill>
                <a:latin typeface="Calibri"/>
              </a:rPr>
              <a:t>Key physical drivers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Impervious surfaces (concrete, asphalt) absorb solar energy and re-radiate as heat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Reduced vegetation eliminates the cooling effect of evapotranspiration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Urban canyon geometry traps long-wave radiation between buildings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Anthropogenic heat: vehicle exhaust, AC systems, industrial processes add direct heat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600" b="1" i="0">
                <a:solidFill>
                  <a:srgbClr val="1F788A"/>
                </a:solidFill>
                <a:latin typeface="Calibri"/>
              </a:rPr>
              <a:t>Why this matters now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India's urban population will reach 600 million by 2036 (UN World Urbanisation Prospects)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Heat stress responsible for 12,000+ annual deaths in India (MoHFW 2022)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Every 1 °C rise in urban temperature increases electricity demand by 2–4%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5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64008" cy="5943600"/>
          </a:xfrm>
          <a:prstGeom prst="rect">
            <a:avLst/>
          </a:prstGeom>
          <a:solidFill>
            <a:srgbClr val="1F7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16852"/>
            <a:ext cx="12188952" cy="41148"/>
          </a:xfrm>
          <a:prstGeom prst="rect">
            <a:avLst/>
          </a:prstGeom>
          <a:solidFill>
            <a:srgbClr val="D49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09728"/>
            <a:ext cx="1164031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What is the Urban Heat Island Effect?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987552"/>
            <a:ext cx="11640312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UHI = urban areas are persistently warmer than surrounding rural/suburban areas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Measured via Land Surface Temperature (LST) from satellite thermal imagery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600" b="1" i="0">
                <a:solidFill>
                  <a:srgbClr val="1F788A"/>
                </a:solidFill>
                <a:latin typeface="Calibri"/>
              </a:rPr>
              <a:t>Severity classification — Liu &amp; Zhang (2011) Mean–SD method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Uses the city's own LST distribution: class boundaries at μ − 0.5σ and μ + 0.5σ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505050"/>
                </a:solidFill>
                <a:latin typeface="Calibri"/>
              </a:rPr>
              <a:t>    ‣  Cool Island:   LST &lt; μ − 0.5σ       →  &lt; 32.42 °C   →  526 pts  (21.6%)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505050"/>
                </a:solidFill>
                <a:latin typeface="Calibri"/>
              </a:rPr>
              <a:t>    ‣  Neutral:       μ − 0.5σ to μ + 0.5σ  →  32.42–35.14 °C  →  1,173 pts (48.2%)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505050"/>
                </a:solidFill>
                <a:latin typeface="Calibri"/>
              </a:rPr>
              <a:t>    ‣  Hot UHI:       LST &gt; μ + 0.5σ       →  &gt; 35.14 °C   →  734 pts  (30.2%)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600" b="1" i="0">
                <a:solidFill>
                  <a:srgbClr val="1F788A"/>
                </a:solidFill>
                <a:latin typeface="Calibri"/>
              </a:rPr>
              <a:t>Why raw LST (not UHII = LST_urban − LST_rural)?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Our 10×10 km ROI is entirely urban — no rural reference pixel exists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Raw LST is consistent with Mansouri (2025), Hoang (2025), Manna (2026)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Liu &amp; Zhang classification is defined on raw LST — same methodology as lit.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5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64008" cy="5943600"/>
          </a:xfrm>
          <a:prstGeom prst="rect">
            <a:avLst/>
          </a:prstGeom>
          <a:solidFill>
            <a:srgbClr val="1F7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16852"/>
            <a:ext cx="12188952" cy="41148"/>
          </a:xfrm>
          <a:prstGeom prst="rect">
            <a:avLst/>
          </a:prstGeom>
          <a:solidFill>
            <a:srgbClr val="D49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09728"/>
            <a:ext cx="1164031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Why Bengaluru?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987552"/>
            <a:ext cx="11640312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India's 3rd largest city: 12 M+ population, India's Silicon Valley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88% loss of green cover between 1973 and 2017 (IISc remote sensing study)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Rapid concretisation: wetlands converted to IT campuses, ring roads, housing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Tropical savanna climate (Köppen Aw): peak heat March–May before monsoon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600" b="1" i="0">
                <a:solidFill>
                  <a:srgbClr val="1F788A"/>
                </a:solidFill>
                <a:latin typeface="Calibri"/>
              </a:rPr>
              <a:t>The research gap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Conducted a survey of 11 peer-reviewed UHI ML papers (2023–2026)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Zero prior papers apply ML to UHI prediction specifically for Bengaluru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Ours is the first ML-based UHI study for Bengaluru in published literature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600" b="1" i="0">
                <a:solidFill>
                  <a:srgbClr val="1F788A"/>
                </a:solidFill>
                <a:latin typeface="Calibri"/>
              </a:rPr>
              <a:t>Why it matters beyond Bengaluru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Bengaluru's extreme urban growth rate = extreme projected UHI risk trajectory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Local government mitigation planning requires spatially resolved prediction models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Provides a reproducible template for other Indian tier-1 cities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5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64008" cy="5943600"/>
          </a:xfrm>
          <a:prstGeom prst="rect">
            <a:avLst/>
          </a:prstGeom>
          <a:solidFill>
            <a:srgbClr val="1F7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16852"/>
            <a:ext cx="12188952" cy="41148"/>
          </a:xfrm>
          <a:prstGeom prst="rect">
            <a:avLst/>
          </a:prstGeom>
          <a:solidFill>
            <a:srgbClr val="D49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09728"/>
            <a:ext cx="1164031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Gaps in Existing Literature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987552"/>
            <a:ext cx="11640312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600" b="1" i="0">
                <a:solidFill>
                  <a:srgbClr val="1F788A"/>
                </a:solidFill>
                <a:latin typeface="Calibri"/>
              </a:rPr>
              <a:t>Validation gaps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Most ML-UHI studies: single 70/30 or 80/20 random split — inflated by spatial autocorrelation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Only 1 of 11 surveyed papers (Mansouri 2025) uses stratified cross-validation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No paper tests geographic robustness via Spatial Block CV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600" b="1" i="0">
                <a:solidFill>
                  <a:srgbClr val="1F788A"/>
                </a:solidFill>
                <a:latin typeface="Calibri"/>
              </a:rPr>
              <a:t>Feature gaps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No paper combines: socioeconomic wealth index + 3D urban morphology + remote sensing + met.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No paper uses Meta Relative Wealth Index (RWI) for UHI prediction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No paper derives Sky View Factor proxy + Height Variability from OSMnx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600" b="1" i="0">
                <a:solidFill>
                  <a:srgbClr val="1F788A"/>
                </a:solidFill>
                <a:latin typeface="Calibri"/>
              </a:rPr>
              <a:t>Cross-city gap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No Indian-context UHI paper with empirical cross-city domain adaptation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No paper quantifies the scale-mismatch failure mode in cross-city transfer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600" b="1" i="0">
                <a:solidFill>
                  <a:srgbClr val="1F788A"/>
                </a:solidFill>
                <a:latin typeface="Calibri"/>
              </a:rPr>
              <a:t>Geography gap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All 11 surveyed papers: USA, Vietnam, Africa, Mumbai, Indonesia — none cover Bengaluru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5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64008" cy="5943600"/>
          </a:xfrm>
          <a:prstGeom prst="rect">
            <a:avLst/>
          </a:prstGeom>
          <a:solidFill>
            <a:srgbClr val="1F7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16852"/>
            <a:ext cx="12188952" cy="41148"/>
          </a:xfrm>
          <a:prstGeom prst="rect">
            <a:avLst/>
          </a:prstGeom>
          <a:solidFill>
            <a:srgbClr val="D49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09728"/>
            <a:ext cx="1164031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Our Approach — Four Contributions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987552"/>
            <a:ext cx="11640312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600" b="1" i="0">
                <a:solidFill>
                  <a:srgbClr val="1F788A"/>
                </a:solidFill>
                <a:latin typeface="Calibri"/>
              </a:rPr>
              <a:t>1. Custom dataset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2,433-point dataset: 27 columns, 10×10 km ROI in central Bengaluru, 50 m grid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7 heterogeneous data sources merged (GEE, ERA5, Sentinel-5P, MODIS, OSMnx, WorldPop, Meta RWI)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600" b="1" i="0">
                <a:solidFill>
                  <a:srgbClr val="1F788A"/>
                </a:solidFill>
                <a:latin typeface="Calibri"/>
              </a:rPr>
              <a:t>2. Tuned ensemble model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XGBoost + LightGBM + CatBoost, unweighted average — Optuna TPE 60 trials per model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600" b="1" i="0">
                <a:solidFill>
                  <a:srgbClr val="1F788A"/>
                </a:solidFill>
                <a:latin typeface="Calibri"/>
              </a:rPr>
              <a:t>3. Honest evaluation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Primary: Stratified 5-fold CV on LST tertiles (balanced folds)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Secondary: Spatial Block CV (KMeans checkerboard, geographic independence)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600" b="1" i="0">
                <a:solidFill>
                  <a:srgbClr val="1F788A"/>
                </a:solidFill>
                <a:latin typeface="Calibri"/>
              </a:rPr>
              <a:t>4. Cross-city validation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BLR ↔ Pune domain adaptation: identified scale-mismatch problem, demonstrated fix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First cross-city domain adaptation experiment for Indian UHI context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5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64008" cy="5943600"/>
          </a:xfrm>
          <a:prstGeom prst="rect">
            <a:avLst/>
          </a:prstGeom>
          <a:solidFill>
            <a:srgbClr val="1F7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16852"/>
            <a:ext cx="12188952" cy="41148"/>
          </a:xfrm>
          <a:prstGeom prst="rect">
            <a:avLst/>
          </a:prstGeom>
          <a:solidFill>
            <a:srgbClr val="D49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09728"/>
            <a:ext cx="1164031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Project Roadmap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987552"/>
            <a:ext cx="11640312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700" b="1" i="0">
                <a:solidFill>
                  <a:srgbClr val="1F788A"/>
                </a:solidFill>
                <a:latin typeface="Calibri"/>
              </a:rPr>
              <a:t>01 · Introduction &amp; Motivation</a:t>
            </a:r>
          </a:p>
          <a:p>
            <a:pPr>
              <a:spcAft>
                <a:spcPts val="200"/>
              </a:spcAft>
            </a:pPr>
            <a:r>
              <a:rPr sz="1600" b="0" i="0">
                <a:solidFill>
                  <a:srgbClr val="181818"/>
                </a:solidFill>
                <a:latin typeface="Calibri"/>
              </a:rPr>
              <a:t>•  UHI problem, why Bengaluru, gaps in existing literature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700" b="1" i="0">
                <a:solidFill>
                  <a:srgbClr val="1F788A"/>
                </a:solidFill>
                <a:latin typeface="Calibri"/>
              </a:rPr>
              <a:t>02 · Dataset &amp; Feature Engineering</a:t>
            </a:r>
          </a:p>
          <a:p>
            <a:pPr>
              <a:spcAft>
                <a:spcPts val="200"/>
              </a:spcAft>
            </a:pPr>
            <a:r>
              <a:rPr sz="1600" b="0" i="0">
                <a:solidFill>
                  <a:srgbClr val="181818"/>
                </a:solidFill>
                <a:latin typeface="Calibri"/>
              </a:rPr>
              <a:t>•  Data collection pipeline, 7 sources, 27 → 20 features, Pune cross-city dataset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700" b="1" i="0">
                <a:solidFill>
                  <a:srgbClr val="1F788A"/>
                </a:solidFill>
                <a:latin typeface="Calibri"/>
              </a:rPr>
              <a:t>03 · Methodology</a:t>
            </a:r>
          </a:p>
          <a:p>
            <a:pPr>
              <a:spcAft>
                <a:spcPts val="200"/>
              </a:spcAft>
            </a:pPr>
            <a:r>
              <a:rPr sz="1600" b="0" i="0">
                <a:solidFill>
                  <a:srgbClr val="181818"/>
                </a:solidFill>
                <a:latin typeface="Calibri"/>
              </a:rPr>
              <a:t>•  Model progression, ensemble architecture, Optuna tuning, CV journey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700" b="1" i="0">
                <a:solidFill>
                  <a:srgbClr val="1F788A"/>
                </a:solidFill>
                <a:latin typeface="Calibri"/>
              </a:rPr>
              <a:t>04 · Results &amp; Evaluation</a:t>
            </a:r>
          </a:p>
          <a:p>
            <a:pPr>
              <a:spcAft>
                <a:spcPts val="200"/>
              </a:spcAft>
            </a:pPr>
            <a:r>
              <a:rPr sz="1600" b="0" i="0">
                <a:solidFill>
                  <a:srgbClr val="181818"/>
                </a:solidFill>
                <a:latin typeface="Calibri"/>
              </a:rPr>
              <a:t>•  Headline metrics (R²=0.7940), residual analysis, cross-paper benchmark,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505050"/>
                </a:solidFill>
                <a:latin typeface="Calibri"/>
              </a:rPr>
              <a:t>    ‣  SHAP attribution, novelty ablation, cross-city transfer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700" b="1" i="0">
                <a:solidFill>
                  <a:srgbClr val="1F788A"/>
                </a:solidFill>
                <a:latin typeface="Calibri"/>
              </a:rPr>
              <a:t>05 · Conclusions</a:t>
            </a:r>
          </a:p>
          <a:p>
            <a:pPr>
              <a:spcAft>
                <a:spcPts val="200"/>
              </a:spcAft>
            </a:pPr>
            <a:r>
              <a:rPr sz="1600" b="0" i="0">
                <a:solidFill>
                  <a:srgbClr val="181818"/>
                </a:solidFill>
                <a:latin typeface="Calibri"/>
              </a:rPr>
              <a:t>•  Key findings, novelty claims, limitations, future work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5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F7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D49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166360" y="1481328"/>
            <a:ext cx="1856231" cy="594360"/>
          </a:xfrm>
          <a:prstGeom prst="rect">
            <a:avLst/>
          </a:prstGeom>
          <a:solidFill>
            <a:srgbClr val="1F7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66360" y="1499616"/>
            <a:ext cx="1856231" cy="557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SECTION 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31720"/>
            <a:ext cx="1081735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Dataset &amp; Feature Engineering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749039"/>
            <a:ext cx="94457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C8E4EA"/>
                </a:solidFill>
                <a:latin typeface="Calibri"/>
              </a:rPr>
              <a:t>From Raw Satellite Data to an ML-Ready Dataset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5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64008" cy="5943600"/>
          </a:xfrm>
          <a:prstGeom prst="rect">
            <a:avLst/>
          </a:prstGeom>
          <a:solidFill>
            <a:srgbClr val="1F7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16852"/>
            <a:ext cx="12188952" cy="41148"/>
          </a:xfrm>
          <a:prstGeom prst="rect">
            <a:avLst/>
          </a:prstGeom>
          <a:solidFill>
            <a:srgbClr val="D49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09728"/>
            <a:ext cx="1164031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Study Area — Bengaluru ROI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987552"/>
            <a:ext cx="11640312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10 × 10 km Region of Interest (ROI) in central Bengaluru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Coordinates: 77.52–77.62 °E,  12.94–13.04 °N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2,433 sample points on a regular 50 m grid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Coverage: CBD, residential areas, parks (Cubbon Park, Lalbagh), industrial zones, water bodies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600" b="1" i="0">
                <a:solidFill>
                  <a:srgbClr val="1F788A"/>
                </a:solidFill>
                <a:latin typeface="Calibri"/>
              </a:rPr>
              <a:t>Why this extent?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Captures the full urban gradient — from dense concrete core to greener urban fringe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50 m resolution balances spatial granularity with Landsat pixel size (30 m native)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All 7 data sources have ≥ 50 m native resolution → no upsampling artefacts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600" b="1" i="0">
                <a:solidFill>
                  <a:srgbClr val="1F788A"/>
                </a:solidFill>
                <a:latin typeface="Calibri"/>
              </a:rPr>
              <a:t>Cross-city: Pune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Equivalent ROI in Pune: 2,382 points, same 50 m grid methodology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Used exclusively for cross-city domain adaptation experiments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5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64008" cy="5943600"/>
          </a:xfrm>
          <a:prstGeom prst="rect">
            <a:avLst/>
          </a:prstGeom>
          <a:solidFill>
            <a:srgbClr val="1F7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16852"/>
            <a:ext cx="12188952" cy="41148"/>
          </a:xfrm>
          <a:prstGeom prst="rect">
            <a:avLst/>
          </a:prstGeom>
          <a:solidFill>
            <a:srgbClr val="D49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09728"/>
            <a:ext cx="1164031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Data Collection — 7 Sources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987552"/>
            <a:ext cx="11640312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600" b="1" i="0">
                <a:solidFill>
                  <a:srgbClr val="1F788A"/>
                </a:solidFill>
                <a:latin typeface="Calibri"/>
              </a:rPr>
              <a:t>Remote sensing (Google Earth Engine)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Landsat 8/9 Band 10 → LST (Jiménez-Muñoz algorithm)  +  NDVI, NDBI, EVI, Albedo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MODIS Terra MOD11A1 → independent LST cross-check (used as feature: MODIS_LST)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600" b="1" i="0">
                <a:solidFill>
                  <a:srgbClr val="1F788A"/>
                </a:solidFill>
                <a:latin typeface="Calibri"/>
              </a:rPr>
              <a:t>Climate reanalysis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ERA5 hourly → Air_Temp_C, Relative_Humidity, Wind_Speed, Surface_Pressure_hPa, Soil_Moisture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600" b="1" i="0">
                <a:solidFill>
                  <a:srgbClr val="1F788A"/>
                </a:solidFill>
                <a:latin typeface="Calibri"/>
              </a:rPr>
              <a:t>Air quality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Sentinel-5P TROPOMI → NO2_Emissions (tropospheric column density)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600" b="1" i="0">
                <a:solidFill>
                  <a:srgbClr val="1F788A"/>
                </a:solidFill>
                <a:latin typeface="Calibri"/>
              </a:rPr>
              <a:t>Urban morphology (OSMnx)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Building footprints → Building_Density_Ratio, Height_Variability, SVF_Proxy (Sky View Factor)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Road network → Street_Density, Dist_Highway  |  Green/water buffers → Dist_Park, Dist_Water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600" b="1" i="0">
                <a:solidFill>
                  <a:srgbClr val="1F788A"/>
                </a:solidFill>
                <a:latin typeface="Calibri"/>
              </a:rPr>
              <a:t>Population &amp; socioeconomic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WorldPop 100 m → Pop_Density  |  Meta RWI → Relative_Wealth_Index, Dist_to_RWI_Node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5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64008" cy="5943600"/>
          </a:xfrm>
          <a:prstGeom prst="rect">
            <a:avLst/>
          </a:prstGeom>
          <a:solidFill>
            <a:srgbClr val="1F7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16852"/>
            <a:ext cx="12188952" cy="41148"/>
          </a:xfrm>
          <a:prstGeom prst="rect">
            <a:avLst/>
          </a:prstGeom>
          <a:solidFill>
            <a:srgbClr val="D49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09728"/>
            <a:ext cx="1164031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Feature Engineering — 27 → 20 Features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987552"/>
            <a:ext cx="11640312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Raw dataset: 27 columns × 2,433 points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600" b="1" i="0">
                <a:solidFill>
                  <a:srgbClr val="1F788A"/>
                </a:solidFill>
                <a:latin typeface="Calibri"/>
              </a:rPr>
              <a:t>Columns dropped (7 total)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LST                → regression target (cannot be a feature)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Latitude, Longitude → per mentor guidance: prevents model memorising geography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EVI, SAVI, MNDWI   → multicollinear with NDVI / NDBI  (Pearson |r| &gt; 0.85)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Volume_Density     → 84.8% missing values — the only null column in the dataset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600" b="1" i="0">
                <a:solidFill>
                  <a:srgbClr val="1F788A"/>
                </a:solidFill>
                <a:latin typeface="Calibri"/>
              </a:rPr>
              <a:t>Result: 20 clean features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All remaining 20 columns: zero null values after dropping Volume_Density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KNN imputation (k=5) applied before modelling as safety net for residual nulls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StandardScaler for linear/distance models; raw features for tree ensembles (XGB/LGB/CB)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5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64008" cy="5943600"/>
          </a:xfrm>
          <a:prstGeom prst="rect">
            <a:avLst/>
          </a:prstGeom>
          <a:solidFill>
            <a:srgbClr val="1F7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16852"/>
            <a:ext cx="12188952" cy="41148"/>
          </a:xfrm>
          <a:prstGeom prst="rect">
            <a:avLst/>
          </a:prstGeom>
          <a:solidFill>
            <a:srgbClr val="D49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09728"/>
            <a:ext cx="1164031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The 20 Features — Category Breakdown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05840"/>
            <a:ext cx="3108960" cy="566928"/>
          </a:xfrm>
          <a:prstGeom prst="rect">
            <a:avLst/>
          </a:prstGeom>
          <a:solidFill>
            <a:srgbClr val="15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069848"/>
            <a:ext cx="3017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Category</a:t>
            </a:r>
          </a:p>
        </p:txBody>
      </p:sp>
      <p:sp>
        <p:nvSpPr>
          <p:cNvPr id="9" name="Rectangle 8"/>
          <p:cNvSpPr/>
          <p:nvPr/>
        </p:nvSpPr>
        <p:spPr>
          <a:xfrm>
            <a:off x="3611880" y="1005840"/>
            <a:ext cx="8074152" cy="566928"/>
          </a:xfrm>
          <a:prstGeom prst="rect">
            <a:avLst/>
          </a:prstGeom>
          <a:solidFill>
            <a:srgbClr val="15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1069848"/>
            <a:ext cx="79827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Features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572768"/>
            <a:ext cx="3108960" cy="493776"/>
          </a:xfrm>
          <a:prstGeom prst="rect">
            <a:avLst/>
          </a:prstGeom>
          <a:solidFill>
            <a:srgbClr val="E6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627632"/>
            <a:ext cx="3017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5233E"/>
                </a:solidFill>
                <a:latin typeface="Calibri"/>
              </a:rPr>
              <a:t>Remote Sensing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11880" y="1572768"/>
            <a:ext cx="8074152" cy="493776"/>
          </a:xfrm>
          <a:prstGeom prst="rect">
            <a:avLst/>
          </a:prstGeom>
          <a:solidFill>
            <a:srgbClr val="E6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0" y="1627632"/>
            <a:ext cx="79827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81818"/>
                </a:solidFill>
                <a:latin typeface="Calibri"/>
              </a:rPr>
              <a:t>NDVI,  NDBI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066544"/>
            <a:ext cx="310896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2121408"/>
            <a:ext cx="3017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5233E"/>
                </a:solidFill>
                <a:latin typeface="Calibri"/>
              </a:rPr>
              <a:t>Meteorological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11880" y="2066544"/>
            <a:ext cx="8074152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0" y="2121408"/>
            <a:ext cx="79827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81818"/>
                </a:solidFill>
                <a:latin typeface="Calibri"/>
              </a:rPr>
              <a:t>Air_Temp_C,  Relative_Humidity,  Wind_Speed,  Soil_Moisture,  Surface_Pressure_hPa,  MODIS_LST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2560320"/>
            <a:ext cx="3108960" cy="493776"/>
          </a:xfrm>
          <a:prstGeom prst="rect">
            <a:avLst/>
          </a:prstGeom>
          <a:solidFill>
            <a:srgbClr val="E6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2615184"/>
            <a:ext cx="3017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5233E"/>
                </a:solidFill>
                <a:latin typeface="Calibri"/>
              </a:rPr>
              <a:t>Anthropogenic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11880" y="2560320"/>
            <a:ext cx="8074152" cy="493776"/>
          </a:xfrm>
          <a:prstGeom prst="rect">
            <a:avLst/>
          </a:prstGeom>
          <a:solidFill>
            <a:srgbClr val="E6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0" y="2615184"/>
            <a:ext cx="79827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81818"/>
                </a:solidFill>
                <a:latin typeface="Calibri"/>
              </a:rPr>
              <a:t>NO2_Emissions,  Pop_Density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3054096"/>
            <a:ext cx="310896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3108960"/>
            <a:ext cx="3017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5233E"/>
                </a:solidFill>
                <a:latin typeface="Calibri"/>
              </a:rPr>
              <a:t>OSM 3D Morphology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11880" y="3054096"/>
            <a:ext cx="8074152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0" y="3108960"/>
            <a:ext cx="79827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81818"/>
                </a:solidFill>
                <a:latin typeface="Calibri"/>
              </a:rPr>
              <a:t>Building_Density_Ratio,  Height_Variability,  SVF_Proxy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3547872"/>
            <a:ext cx="3108960" cy="493776"/>
          </a:xfrm>
          <a:prstGeom prst="rect">
            <a:avLst/>
          </a:prstGeom>
          <a:solidFill>
            <a:srgbClr val="E6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3602736"/>
            <a:ext cx="3017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5233E"/>
                </a:solidFill>
                <a:latin typeface="Calibri"/>
              </a:rPr>
              <a:t>OSM Proximity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11880" y="3547872"/>
            <a:ext cx="8074152" cy="493776"/>
          </a:xfrm>
          <a:prstGeom prst="rect">
            <a:avLst/>
          </a:prstGeom>
          <a:solidFill>
            <a:srgbClr val="E6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0" y="3602736"/>
            <a:ext cx="79827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81818"/>
                </a:solidFill>
                <a:latin typeface="Calibri"/>
              </a:rPr>
              <a:t>Dist_Water,  Dist_Park,  Dist_Highway,  Street_Density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4041648"/>
            <a:ext cx="310896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4096512"/>
            <a:ext cx="3017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5233E"/>
                </a:solidFill>
                <a:latin typeface="Calibri"/>
              </a:rPr>
              <a:t>Socioeconomic  ★ Novel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11880" y="4041648"/>
            <a:ext cx="8074152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0" y="4096512"/>
            <a:ext cx="79827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81818"/>
                </a:solidFill>
                <a:latin typeface="Calibri"/>
              </a:rPr>
              <a:t>Relative_Wealth_Index,  Dist_to_RWI_Node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4535424"/>
            <a:ext cx="3108960" cy="493776"/>
          </a:xfrm>
          <a:prstGeom prst="rect">
            <a:avLst/>
          </a:prstGeom>
          <a:solidFill>
            <a:srgbClr val="E6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4590288"/>
            <a:ext cx="3017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5233E"/>
                </a:solidFill>
                <a:latin typeface="Calibri"/>
              </a:rPr>
              <a:t>Radiative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11880" y="4535424"/>
            <a:ext cx="8074152" cy="493776"/>
          </a:xfrm>
          <a:prstGeom prst="rect">
            <a:avLst/>
          </a:prstGeom>
          <a:solidFill>
            <a:srgbClr val="E6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0" y="4590288"/>
            <a:ext cx="79827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81818"/>
                </a:solidFill>
                <a:latin typeface="Calibri"/>
              </a:rPr>
              <a:t>Albedo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5120640"/>
            <a:ext cx="111831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05050"/>
                </a:solidFill>
                <a:latin typeface="Calibri"/>
              </a:rPr>
              <a:t>★ = features not used in any prior UHI ML paper in our 11-paper survey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5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64008" cy="5943600"/>
          </a:xfrm>
          <a:prstGeom prst="rect">
            <a:avLst/>
          </a:prstGeom>
          <a:solidFill>
            <a:srgbClr val="1F7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16852"/>
            <a:ext cx="12188952" cy="41148"/>
          </a:xfrm>
          <a:prstGeom prst="rect">
            <a:avLst/>
          </a:prstGeom>
          <a:solidFill>
            <a:srgbClr val="D49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09728"/>
            <a:ext cx="1164031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Target Variable &amp; UHI Classification Scheme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987552"/>
            <a:ext cx="11640312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600" b="1" i="0">
                <a:solidFill>
                  <a:srgbClr val="1F788A"/>
                </a:solidFill>
                <a:latin typeface="Calibri"/>
              </a:rPr>
              <a:t>Regression target: raw Land Surface Temperature (LST, °C)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Landsat Band 10 thermal retrieval — Jiménez-Muñoz single-channel algorithm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BLR LST range: 27.7 – 40.6 °C  |  Mean = 33.78 °C  |  σ = 2.72 °C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600" b="1" i="0">
                <a:solidFill>
                  <a:srgbClr val="1F788A"/>
                </a:solidFill>
                <a:latin typeface="Calibri"/>
              </a:rPr>
              <a:t>Why raw LST, not UHII = LST_urban − LST_rural?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Our ROI is entirely urban — no rural reference pixel available for UHII computation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All comparison papers (Mansouri, Hoang, Manna) also regress on raw LST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Liu &amp; Zhang (2011) classification is defined on raw LST distribution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600" b="1" i="0">
                <a:solidFill>
                  <a:srgbClr val="1F788A"/>
                </a:solidFill>
                <a:latin typeface="Calibri"/>
              </a:rPr>
              <a:t>UHI severity classes — Liu &amp; Zhang (2011) Mean–SD method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Boundaries at μ − 0.5σ  and  μ + 0.5σ  of the city's own LST distribution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505050"/>
                </a:solidFill>
                <a:latin typeface="Calibri"/>
              </a:rPr>
              <a:t>    ‣  Cool Island:  LST &lt; 32.42 °C          →  526 pts  (21.6%)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505050"/>
                </a:solidFill>
                <a:latin typeface="Calibri"/>
              </a:rPr>
              <a:t>    ‣  Neutral:      32.42 – 35.14 °C        →  1,173 pts (48.2%)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505050"/>
                </a:solidFill>
                <a:latin typeface="Calibri"/>
              </a:rPr>
              <a:t>    ‣  Hot UHI:      LST &gt; 35.14 °C          →  734 pts  (30.2%)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5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64008" cy="5943600"/>
          </a:xfrm>
          <a:prstGeom prst="rect">
            <a:avLst/>
          </a:prstGeom>
          <a:solidFill>
            <a:srgbClr val="1F7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16852"/>
            <a:ext cx="12188952" cy="41148"/>
          </a:xfrm>
          <a:prstGeom prst="rect">
            <a:avLst/>
          </a:prstGeom>
          <a:solidFill>
            <a:srgbClr val="D49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09728"/>
            <a:ext cx="1164031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Cross-City Dataset — Pune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987552"/>
            <a:ext cx="11640312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2,382 points, 36 columns (same core + LULC one-hot columns + pre-computed UHII)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Same collection pipeline: GEE, ERA5, OSMnx, WorldPop, Meta RWI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600" b="1" i="0">
                <a:solidFill>
                  <a:srgbClr val="1F788A"/>
                </a:solidFill>
                <a:latin typeface="Calibri"/>
              </a:rPr>
              <a:t>Critical difference from Bengaluru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Pune LST is already z-scored → mean ≈ 0, std ≈ 1  (unit variance)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Bengaluru LST is raw °C → mean = 33.78, std = 2.72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This scale mismatch is the root cause of naive transfer failing (R² = −0.24)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600" b="1" i="0">
                <a:solidFill>
                  <a:srgbClr val="1F788A"/>
                </a:solidFill>
                <a:latin typeface="Calibri"/>
              </a:rPr>
              <a:t>All 20 BLR features are present in Pune (verified — 0 nulls)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NO2_Emissions, Height_Variability, Surface_Pressure_hPa all confirmed in Pune CSV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Cross-city experiments use the full 20-feature shared set (not a reduced subset)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NDBI, NDVI, NO2, Pop_Density, RH, Wind_Speed, Building_Density_Ratio,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505050"/>
                </a:solidFill>
                <a:latin typeface="Calibri"/>
              </a:rPr>
              <a:t>    ‣  Dist_Water, Dist_Park, Dist_Highway, Street_Density, Height_Var, SVF_Proxy,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505050"/>
                </a:solidFill>
                <a:latin typeface="Calibri"/>
              </a:rPr>
              <a:t>    ‣  Air_Temp_C, Albedo, MODIS_LST, Soil_Moisture, Surface_Pressure, RWI, Dist_to_RWI_Node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5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F7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D49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166360" y="1481328"/>
            <a:ext cx="1856231" cy="594360"/>
          </a:xfrm>
          <a:prstGeom prst="rect">
            <a:avLst/>
          </a:prstGeom>
          <a:solidFill>
            <a:srgbClr val="1F7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66360" y="1499616"/>
            <a:ext cx="1856231" cy="557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SECTION  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31720"/>
            <a:ext cx="1081735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Methodology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749039"/>
            <a:ext cx="94457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C8E4EA"/>
                </a:solidFill>
                <a:latin typeface="Calibri"/>
              </a:rPr>
              <a:t>From Dataset to Validated Ensemble Model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5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64008" cy="5943600"/>
          </a:xfrm>
          <a:prstGeom prst="rect">
            <a:avLst/>
          </a:prstGeom>
          <a:solidFill>
            <a:srgbClr val="1F7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16852"/>
            <a:ext cx="12188952" cy="41148"/>
          </a:xfrm>
          <a:prstGeom prst="rect">
            <a:avLst/>
          </a:prstGeom>
          <a:solidFill>
            <a:srgbClr val="D49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09728"/>
            <a:ext cx="1164031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ML Pipeline — End to 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987552"/>
            <a:ext cx="11640312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600" b="1" i="0">
                <a:solidFill>
                  <a:srgbClr val="1F788A"/>
                </a:solidFill>
                <a:latin typeface="Calibri"/>
              </a:rPr>
              <a:t>Step 1 · Preprocessing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KNN imputation (k=5) for residual missing values (safety net)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StandardScaler for linear / distance-based models only  (SVM, KNN, Linear, MLP)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Tree ensembles trained on raw features — no scaling needed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600" b="1" i="0">
                <a:solidFill>
                  <a:srgbClr val="1F788A"/>
                </a:solidFill>
                <a:latin typeface="Calibri"/>
              </a:rPr>
              <a:t>Step 2 · Model selection sweep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8 model families: Linear, KNN, SVM, Random Forest, XGBoost, LightGBM, CatBoost, MLP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MLP architecture: Input → 64 ReLU → 32 ReLU → Output, Dropout 0.2, Adam, early stopping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600" b="1" i="0">
                <a:solidFill>
                  <a:srgbClr val="1F788A"/>
                </a:solidFill>
                <a:latin typeface="Calibri"/>
              </a:rPr>
              <a:t>Step 3 · Ensemble construction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Final model: unweighted average of XGBoost + LightGBM + CatBoost predictions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600" b="1" i="0">
                <a:solidFill>
                  <a:srgbClr val="1F788A"/>
                </a:solidFill>
                <a:latin typeface="Calibri"/>
              </a:rPr>
              <a:t>Step 4 · Evaluation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Primary: Stratified 5-fold CV on LST tertile bins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Secondary: Spatial Block CV (KMeans checkerboard, 10 geographic folds)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5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64008" cy="5943600"/>
          </a:xfrm>
          <a:prstGeom prst="rect">
            <a:avLst/>
          </a:prstGeom>
          <a:solidFill>
            <a:srgbClr val="1F7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16852"/>
            <a:ext cx="12188952" cy="41148"/>
          </a:xfrm>
          <a:prstGeom prst="rect">
            <a:avLst/>
          </a:prstGeom>
          <a:solidFill>
            <a:srgbClr val="D49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09728"/>
            <a:ext cx="1164031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Model Progression — Baseline to Headline Ensemble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987552"/>
            <a:ext cx="11640312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600" b="1" i="0">
                <a:solidFill>
                  <a:srgbClr val="1F788A"/>
                </a:solidFill>
                <a:latin typeface="Calibri"/>
              </a:rPr>
              <a:t>Baseline models  (verified, Stratified 5-fold CV)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Linear Regression:          R² = 0.4241  (severe underfitting — LST is strongly nonlinear)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KNN (k=7, distance-weighted): R² = 0.5985  (overfits to local spatial clusters)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MLP (64→32 ReLU):           R² = 0.5066  (neural net struggles with small n=2,433)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Random Forest (n=500):      R² = 0.6943  (strong baseline, low variance)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600" b="1" i="0">
                <a:solidFill>
                  <a:srgbClr val="1F788A"/>
                </a:solidFill>
                <a:latin typeface="Calibri"/>
              </a:rPr>
              <a:t>Tree ensemble models  (tuned, verified)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XGBoost  (Optuna-tuned):    R² = 0.7869  (boosting + regularisation wins)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LightGBM (Optuna-tuned):    R² = 0.7855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CatBoost (Optuna-tuned):    R² = 0.7875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600" b="1" i="0">
                <a:solidFill>
                  <a:srgbClr val="1F788A"/>
                </a:solidFill>
                <a:latin typeface="Calibri"/>
              </a:rPr>
              <a:t>Ensemble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XGB + LGB + CatBoost (Optuna-tuned):    R² = 0.7940  ← headline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Note: untuned single-model and pairwise ensemble R² values from notebook exploration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5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64008" cy="5943600"/>
          </a:xfrm>
          <a:prstGeom prst="rect">
            <a:avLst/>
          </a:prstGeom>
          <a:solidFill>
            <a:srgbClr val="1F7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16852"/>
            <a:ext cx="12188952" cy="41148"/>
          </a:xfrm>
          <a:prstGeom prst="rect">
            <a:avLst/>
          </a:prstGeom>
          <a:solidFill>
            <a:srgbClr val="D49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09728"/>
            <a:ext cx="1164031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Ensemble Architecture — Diversity by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987552"/>
            <a:ext cx="11640312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Three gradient-boosted tree models in an unweighted average ensemble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600" b="1" i="0">
                <a:solidFill>
                  <a:srgbClr val="1F788A"/>
                </a:solidFill>
                <a:latin typeface="Calibri"/>
              </a:rPr>
              <a:t>Why these three?  Diverse inductive biases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XGBoost:   symmetric depth-wise trees, L1/L2 regularisation, column subsampling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LightGBM:  leaf-wise growth (faster, handles larger n), histogram binning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CatBoost:  ordered boosting (prevents target leakage), strong on numeric skew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600" b="1" i="0">
                <a:solidFill>
                  <a:srgbClr val="1F788A"/>
                </a:solidFill>
                <a:latin typeface="Calibri"/>
              </a:rPr>
              <a:t>Why unweighted average?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Optimised stacking adds a meta-learner — overfits on 2,433 points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Equal weighting performs on par with stacking here; simpler and reproducible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600" b="1" i="0">
                <a:solidFill>
                  <a:srgbClr val="1F788A"/>
                </a:solidFill>
                <a:latin typeface="Calibri"/>
              </a:rPr>
              <a:t>Ensemble gain quantified  (verified)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All three models tightly clustered: XGB=0.7869, LGB=0.7855, CB=0.7875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Ensemble:  R² = 0.7940  →  +0.0065 over best single model (CatBoost)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Primary ensemble benefit: lower RMSE (1.233 vs ~1.252) and more stable predictions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5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64008" cy="5943600"/>
          </a:xfrm>
          <a:prstGeom prst="rect">
            <a:avLst/>
          </a:prstGeom>
          <a:solidFill>
            <a:srgbClr val="1F7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16852"/>
            <a:ext cx="12188952" cy="41148"/>
          </a:xfrm>
          <a:prstGeom prst="rect">
            <a:avLst/>
          </a:prstGeom>
          <a:solidFill>
            <a:srgbClr val="D49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09728"/>
            <a:ext cx="1164031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Hyperparameter Tuning — Optuna TPE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987552"/>
            <a:ext cx="11640312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Algorithm: Tree-structured Parzen Estimator (TPE) — Bayesian optimisation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60 trials per model; objective = mean 5-fold CV R²  (not held-out test — avoids leakage)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Hyperparameters locked in verify_experiments.py for full reproducibility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600" b="1" i="0">
                <a:solidFill>
                  <a:srgbClr val="1F788A"/>
                </a:solidFill>
                <a:latin typeface="Calibri"/>
              </a:rPr>
              <a:t>Locked best parameters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XGB:   n_est=929,  max_depth=7,   lr=0.0194, subsample=0.870, colsample=0.632,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505050"/>
                </a:solidFill>
                <a:latin typeface="Calibri"/>
              </a:rPr>
              <a:t>    ‣        min_child_weight=6,  α=1.4×10⁻⁵,  λ=2×10⁻⁷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LGB:   n_est=1244, num_leaves=51, lr=0.0318, subsample=0.870, colsample=0.620,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505050"/>
                </a:solidFill>
                <a:latin typeface="Calibri"/>
              </a:rPr>
              <a:t>    ‣        min_child_samples=11, α=3.3×10⁻⁶, λ=3×10⁻⁸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CB:    iterations=1304, depth=7,  lr=0.0735, l2=4.285, subsample=0.877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600" b="1" i="0">
                <a:solidFill>
                  <a:srgbClr val="1F788A"/>
                </a:solidFill>
                <a:latin typeface="Calibri"/>
              </a:rPr>
              <a:t>Key convergence pattern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All three models → similar subsample ≈ 0.87, colsample ≈ 0.62–0.63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High n_estimators (929–1304) + low lr = slow, careful learning (reduced overfitting)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5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64008" cy="5943600"/>
          </a:xfrm>
          <a:prstGeom prst="rect">
            <a:avLst/>
          </a:prstGeom>
          <a:solidFill>
            <a:srgbClr val="1F7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16852"/>
            <a:ext cx="12188952" cy="41148"/>
          </a:xfrm>
          <a:prstGeom prst="rect">
            <a:avLst/>
          </a:prstGeom>
          <a:solidFill>
            <a:srgbClr val="D49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09728"/>
            <a:ext cx="1164031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Validation Strategy — Why Rigor Matters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987552"/>
            <a:ext cx="11640312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600" b="1" i="0">
                <a:solidFill>
                  <a:srgbClr val="1F788A"/>
                </a:solidFill>
                <a:latin typeface="Calibri"/>
              </a:rPr>
              <a:t>Stratified 5-fold CV  (headline protocol)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Folds balanced by LST tertile bins → equal Cool / Neutral / Hot in every fold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Prevents class-imbalance artefacts; 5 independent estimates → stable mean ± std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600" b="1" i="0">
                <a:solidFill>
                  <a:srgbClr val="1F788A"/>
                </a:solidFill>
                <a:latin typeface="Calibri"/>
              </a:rPr>
              <a:t>Spatial Block CV  (geographic robustness check)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KMeans (k=10) clusters points into 10 geographic blocks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Train on 9 blocks, test on 1 — guarantees spatial independence between train/test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Result: R² ≈ 0.72–0.74  (small drop; model generalises beyond training geography)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600" b="1" i="0">
                <a:solidFill>
                  <a:srgbClr val="1F788A"/>
                </a:solidFill>
                <a:latin typeface="Calibri"/>
              </a:rPr>
              <a:t>What we rejected and why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Simple 80/20 random split: inflated by spatial autocorrelation → +0.03–0.05 R²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Leave-One-Out CV: computationally prohibitive, very high variance on n=2,433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600" b="1" i="0">
                <a:solidFill>
                  <a:srgbClr val="1F788A"/>
                </a:solidFill>
                <a:latin typeface="Calibri"/>
              </a:rPr>
              <a:t>Cross-city validation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Train BLR, test Pune (and vice versa): hardest generalisation test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5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64008" cy="5943600"/>
          </a:xfrm>
          <a:prstGeom prst="rect">
            <a:avLst/>
          </a:prstGeom>
          <a:solidFill>
            <a:srgbClr val="1F7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16852"/>
            <a:ext cx="12188952" cy="41148"/>
          </a:xfrm>
          <a:prstGeom prst="rect">
            <a:avLst/>
          </a:prstGeom>
          <a:solidFill>
            <a:srgbClr val="D49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09728"/>
            <a:ext cx="1164031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The CV Journey — How Validation Evolved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987552"/>
            <a:ext cx="11640312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600" b="1" i="0">
                <a:solidFill>
                  <a:srgbClr val="1F788A"/>
                </a:solidFill>
                <a:latin typeface="Calibri"/>
              </a:rPr>
              <a:t>Stage 1 — Random 80/20 split  (rejected)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First approach: fast, seemingly standard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Problem: spatial autocorrelation → test points near train points → inflated R²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Estimated overestimation: +0.03–0.05 R² vs honest estimate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600" b="1" i="0">
                <a:solidFill>
                  <a:srgbClr val="1F788A"/>
                </a:solidFill>
                <a:latin typeface="Calibri"/>
              </a:rPr>
              <a:t>Stage 2 — Spatial Block CV  (geographic robustness)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KMeans geographic blocks enforce spatial independence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First honest estimate: R² ≈ 0.72–0.74; confirmed model learns physics, not coordinates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600" b="1" i="0">
                <a:solidFill>
                  <a:srgbClr val="1F788A"/>
                </a:solidFill>
                <a:latin typeface="Calibri"/>
              </a:rPr>
              <a:t>Stage 3 — Stratified 5-fold CV  ← headline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Tertile-balanced folds: each fold has same Cool / Neutral / Hot proportions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5× more stable estimates than single split; matches published standard (Mansouri 2025)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600" b="1" i="0">
                <a:solidFill>
                  <a:srgbClr val="1F788A"/>
                </a:solidFill>
                <a:latin typeface="Calibri"/>
              </a:rPr>
              <a:t>Stage 4 — Cross-city transfer  (hardest test)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Train BLR, test Pune — different climate, scale, and preprocessing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Lesson: each validation upgrade costs ~0.02–0.04 R² but earns credibility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5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64008" cy="5943600"/>
          </a:xfrm>
          <a:prstGeom prst="rect">
            <a:avLst/>
          </a:prstGeom>
          <a:solidFill>
            <a:srgbClr val="1F7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16852"/>
            <a:ext cx="12188952" cy="41148"/>
          </a:xfrm>
          <a:prstGeom prst="rect">
            <a:avLst/>
          </a:prstGeom>
          <a:solidFill>
            <a:srgbClr val="D49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09728"/>
            <a:ext cx="1164031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Cross-City Transfer — Design &amp;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987552"/>
            <a:ext cx="11640312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600" b="1" i="0">
                <a:solidFill>
                  <a:srgbClr val="1F788A"/>
                </a:solidFill>
                <a:latin typeface="Calibri"/>
              </a:rPr>
              <a:t>The scale-mismatch problem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Bengaluru LST: raw °C  →  mean = 33.78,  σ = 2.72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Pune LST: pre-standardised z-score  →  mean ≈ 0,  σ ≈ 1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Naive transfer (raw features, z-scored targets):  R² = −0.2443  ← feature scale mismatch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600" b="1" i="0">
                <a:solidFill>
                  <a:srgbClr val="1F788A"/>
                </a:solidFill>
                <a:latin typeface="Calibri"/>
              </a:rPr>
              <a:t>Fix: per-city z-score standardisation of features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Standardise each city's features independently (both targets already z-scored)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After fix — directional BLR → Pune transfer:  R² = +0.1662  (2.4× better than old approach)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600" b="1" i="0">
                <a:solidFill>
                  <a:srgbClr val="1F788A"/>
                </a:solidFill>
                <a:latin typeface="Calibri"/>
              </a:rPr>
              <a:t>Why does z-scoring features help so much?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BLR features are raw physical units; Pune features are pre-standardised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Per-city z-score aligns the feature distributions before the model sees them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600" b="1" i="0">
                <a:solidFill>
                  <a:srgbClr val="1F788A"/>
                </a:solidFill>
                <a:latin typeface="Calibri"/>
              </a:rPr>
              <a:t>Best approach: combined model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Pool BLR + Pune together after per-city z-score of features + targets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Combined 5-fold CV:  R² = 0.7497  (vs old 18-feat result of 0.7005)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5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F7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D49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166360" y="1481328"/>
            <a:ext cx="1856231" cy="594360"/>
          </a:xfrm>
          <a:prstGeom prst="rect">
            <a:avLst/>
          </a:prstGeom>
          <a:solidFill>
            <a:srgbClr val="1F7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66360" y="1499616"/>
            <a:ext cx="1856231" cy="557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SECTION  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31720"/>
            <a:ext cx="1081735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Results &amp; Evaluation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749039"/>
            <a:ext cx="94457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C8E4EA"/>
                </a:solidFill>
                <a:latin typeface="Calibri"/>
              </a:rPr>
              <a:t>Verified Metrics from Stratified 5-Fold CV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5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64008" cy="5943600"/>
          </a:xfrm>
          <a:prstGeom prst="rect">
            <a:avLst/>
          </a:prstGeom>
          <a:solidFill>
            <a:srgbClr val="1F7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16852"/>
            <a:ext cx="12188952" cy="41148"/>
          </a:xfrm>
          <a:prstGeom prst="rect">
            <a:avLst/>
          </a:prstGeom>
          <a:solidFill>
            <a:srgbClr val="D49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09728"/>
            <a:ext cx="1164031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Headline Regression 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987552"/>
            <a:ext cx="11640312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600" b="1" i="0">
                <a:solidFill>
                  <a:srgbClr val="1F788A"/>
                </a:solidFill>
                <a:latin typeface="Calibri"/>
              </a:rPr>
              <a:t>Primary metric: Stratified 5-fold CV  ·  2,433 points  ·  20 features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Ensemble (XGB + LGB + CB, Optuna-tuned):   R² = 0.7940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RMSE = 1.233 °C    |    MAE = 0.887 °C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Normalised RMSE  =  RMSE / σ_LST  =  1.233 / 2.72  =  0.453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600" b="1" i="0">
                <a:solidFill>
                  <a:srgbClr val="1F788A"/>
                </a:solidFill>
                <a:latin typeface="Calibri"/>
              </a:rPr>
              <a:t>Interpretation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The ensemble explains 79.4% of Land Surface Temperature variance across Bengaluru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Average prediction error &lt; 1 °C — practically actionable for urban planning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600" b="1" i="0">
                <a:solidFill>
                  <a:srgbClr val="1F788A"/>
                </a:solidFill>
                <a:latin typeface="Calibri"/>
              </a:rPr>
              <a:t>Reproducibility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All numbers from verify_experiments.py — single script, ~4 min runtime on laptop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Hyperparameters locked; Optuna not re-run — results deterministic (random_state=42)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verification_summary.json is the machine-readable ground truth for all metrics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5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64008" cy="5943600"/>
          </a:xfrm>
          <a:prstGeom prst="rect">
            <a:avLst/>
          </a:prstGeom>
          <a:solidFill>
            <a:srgbClr val="1F7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16852"/>
            <a:ext cx="12188952" cy="41148"/>
          </a:xfrm>
          <a:prstGeom prst="rect">
            <a:avLst/>
          </a:prstGeom>
          <a:solidFill>
            <a:srgbClr val="D49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09728"/>
            <a:ext cx="1164031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Per-Model Performance — Stratified 5-Fold CV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05840"/>
            <a:ext cx="3867912" cy="566928"/>
          </a:xfrm>
          <a:prstGeom prst="rect">
            <a:avLst/>
          </a:prstGeom>
          <a:solidFill>
            <a:srgbClr val="15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069848"/>
            <a:ext cx="377647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Model</a:t>
            </a:r>
          </a:p>
        </p:txBody>
      </p:sp>
      <p:sp>
        <p:nvSpPr>
          <p:cNvPr id="9" name="Rectangle 8"/>
          <p:cNvSpPr/>
          <p:nvPr/>
        </p:nvSpPr>
        <p:spPr>
          <a:xfrm>
            <a:off x="4370832" y="1005840"/>
            <a:ext cx="3200400" cy="566928"/>
          </a:xfrm>
          <a:prstGeom prst="rect">
            <a:avLst/>
          </a:prstGeom>
          <a:solidFill>
            <a:srgbClr val="15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16552" y="1069848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R²  (mean ± std)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71232" y="1005840"/>
            <a:ext cx="2057400" cy="566928"/>
          </a:xfrm>
          <a:prstGeom prst="rect">
            <a:avLst/>
          </a:prstGeom>
          <a:solidFill>
            <a:srgbClr val="15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16952" y="1069848"/>
            <a:ext cx="1965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RMSE (°C)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28632" y="1005840"/>
            <a:ext cx="2057400" cy="566928"/>
          </a:xfrm>
          <a:prstGeom prst="rect">
            <a:avLst/>
          </a:prstGeom>
          <a:solidFill>
            <a:srgbClr val="15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74352" y="1069848"/>
            <a:ext cx="1965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MAE (°C)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1572768"/>
            <a:ext cx="3867912" cy="493776"/>
          </a:xfrm>
          <a:prstGeom prst="rect">
            <a:avLst/>
          </a:prstGeom>
          <a:solidFill>
            <a:srgbClr val="E6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1627632"/>
            <a:ext cx="37764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5233E"/>
                </a:solidFill>
                <a:latin typeface="Calibri"/>
              </a:rPr>
              <a:t>XGBoost  (tuned)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70832" y="1572768"/>
            <a:ext cx="3200400" cy="493776"/>
          </a:xfrm>
          <a:prstGeom prst="rect">
            <a:avLst/>
          </a:prstGeom>
          <a:solidFill>
            <a:srgbClr val="E6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16552" y="1627632"/>
            <a:ext cx="3108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81818"/>
                </a:solidFill>
                <a:latin typeface="Calibri"/>
              </a:rPr>
              <a:t>0.7869  ±  0.011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571232" y="1572768"/>
            <a:ext cx="2057400" cy="493776"/>
          </a:xfrm>
          <a:prstGeom prst="rect">
            <a:avLst/>
          </a:prstGeom>
          <a:solidFill>
            <a:srgbClr val="E6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16952" y="1627632"/>
            <a:ext cx="1965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81818"/>
                </a:solidFill>
                <a:latin typeface="Calibri"/>
              </a:rPr>
              <a:t>1.254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28632" y="1572768"/>
            <a:ext cx="2057400" cy="493776"/>
          </a:xfrm>
          <a:prstGeom prst="rect">
            <a:avLst/>
          </a:prstGeom>
          <a:solidFill>
            <a:srgbClr val="E6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74352" y="1627632"/>
            <a:ext cx="1965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81818"/>
                </a:solidFill>
                <a:latin typeface="Calibri"/>
              </a:rPr>
              <a:t>0.904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2066544"/>
            <a:ext cx="3867912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2121408"/>
            <a:ext cx="37764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5233E"/>
                </a:solidFill>
                <a:latin typeface="Calibri"/>
              </a:rPr>
              <a:t>LightGBM  (tuned)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70832" y="2066544"/>
            <a:ext cx="320040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16552" y="2121408"/>
            <a:ext cx="3108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81818"/>
                </a:solidFill>
                <a:latin typeface="Calibri"/>
              </a:rPr>
              <a:t>0.7855  ±  0.014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571232" y="2066544"/>
            <a:ext cx="205740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16952" y="2121408"/>
            <a:ext cx="1965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81818"/>
                </a:solidFill>
                <a:latin typeface="Calibri"/>
              </a:rPr>
              <a:t>1.258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28632" y="2066544"/>
            <a:ext cx="205740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74352" y="2121408"/>
            <a:ext cx="1965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81818"/>
                </a:solidFill>
                <a:latin typeface="Calibri"/>
              </a:rPr>
              <a:t>0.911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2560320"/>
            <a:ext cx="3867912" cy="493776"/>
          </a:xfrm>
          <a:prstGeom prst="rect">
            <a:avLst/>
          </a:prstGeom>
          <a:solidFill>
            <a:srgbClr val="E6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2615184"/>
            <a:ext cx="37764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5233E"/>
                </a:solidFill>
                <a:latin typeface="Calibri"/>
              </a:rPr>
              <a:t>CatBoost  (tuned)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70832" y="2560320"/>
            <a:ext cx="3200400" cy="493776"/>
          </a:xfrm>
          <a:prstGeom prst="rect">
            <a:avLst/>
          </a:prstGeom>
          <a:solidFill>
            <a:srgbClr val="E6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16552" y="2615184"/>
            <a:ext cx="3108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81818"/>
                </a:solidFill>
                <a:latin typeface="Calibri"/>
              </a:rPr>
              <a:t>0.7875  ±  0.009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571232" y="2560320"/>
            <a:ext cx="2057400" cy="493776"/>
          </a:xfrm>
          <a:prstGeom prst="rect">
            <a:avLst/>
          </a:prstGeom>
          <a:solidFill>
            <a:srgbClr val="E6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16952" y="2615184"/>
            <a:ext cx="1965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81818"/>
                </a:solidFill>
                <a:latin typeface="Calibri"/>
              </a:rPr>
              <a:t>1.252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628632" y="2560320"/>
            <a:ext cx="2057400" cy="493776"/>
          </a:xfrm>
          <a:prstGeom prst="rect">
            <a:avLst/>
          </a:prstGeom>
          <a:solidFill>
            <a:srgbClr val="E6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74352" y="2615184"/>
            <a:ext cx="1965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81818"/>
                </a:solidFill>
                <a:latin typeface="Calibri"/>
              </a:rPr>
              <a:t>0.900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3054096"/>
            <a:ext cx="3867912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3108960"/>
            <a:ext cx="37764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5233E"/>
                </a:solidFill>
                <a:latin typeface="Calibri"/>
              </a:rPr>
              <a:t>Ensemble  (XGB + LGB + CB)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370832" y="3054096"/>
            <a:ext cx="320040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416552" y="3108960"/>
            <a:ext cx="3108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81818"/>
                </a:solidFill>
                <a:latin typeface="Calibri"/>
              </a:rPr>
              <a:t>0.7940  ±  0.010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571232" y="3054096"/>
            <a:ext cx="205740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616952" y="3108960"/>
            <a:ext cx="1965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81818"/>
                </a:solidFill>
                <a:latin typeface="Calibri"/>
              </a:rPr>
              <a:t>1.233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628632" y="3054096"/>
            <a:ext cx="205740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674352" y="3108960"/>
            <a:ext cx="1965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81818"/>
                </a:solidFill>
                <a:latin typeface="Calibri"/>
              </a:rPr>
              <a:t>0.887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02920" y="3547872"/>
            <a:ext cx="3867912" cy="493776"/>
          </a:xfrm>
          <a:prstGeom prst="rect">
            <a:avLst/>
          </a:prstGeom>
          <a:solidFill>
            <a:srgbClr val="E6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8640" y="3602736"/>
            <a:ext cx="37764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5233E"/>
                </a:solidFill>
                <a:latin typeface="Calibri"/>
              </a:rPr>
              <a:t>Ensemble gain vs best single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370832" y="3547872"/>
            <a:ext cx="3200400" cy="493776"/>
          </a:xfrm>
          <a:prstGeom prst="rect">
            <a:avLst/>
          </a:prstGeom>
          <a:solidFill>
            <a:srgbClr val="E6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416552" y="3602736"/>
            <a:ext cx="3108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81818"/>
                </a:solidFill>
                <a:latin typeface="Calibri"/>
              </a:rPr>
              <a:t>+ 0.0065  (lower RMSE, more stable)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571232" y="3547872"/>
            <a:ext cx="2057400" cy="493776"/>
          </a:xfrm>
          <a:prstGeom prst="rect">
            <a:avLst/>
          </a:prstGeom>
          <a:solidFill>
            <a:srgbClr val="E6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616952" y="3602736"/>
            <a:ext cx="1965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81818"/>
                </a:solidFill>
                <a:latin typeface="Calibri"/>
              </a:rPr>
              <a:t>—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628632" y="3547872"/>
            <a:ext cx="2057400" cy="493776"/>
          </a:xfrm>
          <a:prstGeom prst="rect">
            <a:avLst/>
          </a:prstGeom>
          <a:solidFill>
            <a:srgbClr val="E6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674352" y="3602736"/>
            <a:ext cx="1965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81818"/>
                </a:solidFill>
                <a:latin typeface="Calibri"/>
              </a:rPr>
              <a:t>—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02920" y="4133088"/>
            <a:ext cx="111831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05050"/>
                </a:solidFill>
                <a:latin typeface="Calibri"/>
              </a:rPr>
              <a:t>Classification (3-class, same ensemble):  Accuracy = 0.7604  |  F1-weighted = 0.7599  |  ROC-AUC (OvR) = 0.8946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5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64008" cy="5943600"/>
          </a:xfrm>
          <a:prstGeom prst="rect">
            <a:avLst/>
          </a:prstGeom>
          <a:solidFill>
            <a:srgbClr val="1F7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16852"/>
            <a:ext cx="12188952" cy="41148"/>
          </a:xfrm>
          <a:prstGeom prst="rect">
            <a:avLst/>
          </a:prstGeom>
          <a:solidFill>
            <a:srgbClr val="D49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09728"/>
            <a:ext cx="1164031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Residual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987552"/>
            <a:ext cx="11640312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Residuals = actual LST − predicted LST  (°C)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Distribution approximately normal; Shapiro-Wilk p &lt; 0.05 (expected at n=2,433)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Skewness = −0.61  (slight left skew)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600" b="1" i="0">
                <a:solidFill>
                  <a:srgbClr val="1F788A"/>
                </a:solidFill>
                <a:latin typeface="Calibri"/>
              </a:rPr>
              <a:t>What the skew tells us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Model slightly overpredicts in cool zones → negative residuals → left skew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Cool Island is the minority class (21.6%) — statistically harder to predict precisely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600" b="1" i="0">
                <a:solidFill>
                  <a:srgbClr val="1F788A"/>
                </a:solidFill>
                <a:latin typeface="Calibri"/>
              </a:rPr>
              <a:t>Tail behaviour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Slight underprediction at very high LST (&gt; 38 °C): hottest micro-zones are sparse in training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No systematic bias in central LST range (32–37 °C) — covers 70% of all data points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600" b="1" i="0">
                <a:solidFill>
                  <a:srgbClr val="1F788A"/>
                </a:solidFill>
                <a:latin typeface="Calibri"/>
              </a:rPr>
              <a:t>Q-Q plot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Residuals track the normal line well until ±2σ; heavier left tail beyond that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Standard behaviour for tree ensemble models on real-world geospatial data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5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64008" cy="5943600"/>
          </a:xfrm>
          <a:prstGeom prst="rect">
            <a:avLst/>
          </a:prstGeom>
          <a:solidFill>
            <a:srgbClr val="1F7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16852"/>
            <a:ext cx="12188952" cy="41148"/>
          </a:xfrm>
          <a:prstGeom prst="rect">
            <a:avLst/>
          </a:prstGeom>
          <a:solidFill>
            <a:srgbClr val="D49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09728"/>
            <a:ext cx="1164031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3-Class UHI Classification 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987552"/>
            <a:ext cx="11640312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Classes: Cool Island  |  Neutral  |  Hot UHI  — Liu &amp; Zhang (2011)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600" b="1" i="0">
                <a:solidFill>
                  <a:srgbClr val="1F788A"/>
                </a:solidFill>
                <a:latin typeface="Calibri"/>
              </a:rPr>
              <a:t>Headline metrics  (Stratified 5-fold CV)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Accuracy         =  0.7604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F1-weighted      =  0.7599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ROC-AUC (OvR)   =  0.8946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600" b="1" i="0">
                <a:solidFill>
                  <a:srgbClr val="1F788A"/>
                </a:solidFill>
                <a:latin typeface="Calibri"/>
              </a:rPr>
              <a:t>Per-class insight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Cool Island and Hot UHI: better F1 (clear LST signal at distribution tails)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Neutral class: hardest — boundary bleed ±1 °C with adjacent classes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Structural reason: boundaries (32.42°C, 35.14°C) are ±0.5σ → only 2.72 °C wide band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600" b="1" i="0">
                <a:solidFill>
                  <a:srgbClr val="1F788A"/>
                </a:solidFill>
                <a:latin typeface="Calibri"/>
              </a:rPr>
              <a:t>Why run both regression and classification?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Regression gives quantitative LST prediction (°C) for policy and engineering use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Classification matches Mansouri (2025) protocol — enables direct apples-to-apples comparison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5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64008" cy="5943600"/>
          </a:xfrm>
          <a:prstGeom prst="rect">
            <a:avLst/>
          </a:prstGeom>
          <a:solidFill>
            <a:srgbClr val="1F7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16852"/>
            <a:ext cx="12188952" cy="41148"/>
          </a:xfrm>
          <a:prstGeom prst="rect">
            <a:avLst/>
          </a:prstGeom>
          <a:solidFill>
            <a:srgbClr val="D49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09728"/>
            <a:ext cx="1164031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Cross-Paper Benchmark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05840"/>
            <a:ext cx="3017520" cy="566928"/>
          </a:xfrm>
          <a:prstGeom prst="rect">
            <a:avLst/>
          </a:prstGeom>
          <a:solidFill>
            <a:srgbClr val="15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069848"/>
            <a:ext cx="2926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Paper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520440" y="1005840"/>
            <a:ext cx="2560320" cy="566928"/>
          </a:xfrm>
          <a:prstGeom prst="rect">
            <a:avLst/>
          </a:prstGeom>
          <a:solidFill>
            <a:srgbClr val="15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1069848"/>
            <a:ext cx="2468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Region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80760" y="1005840"/>
            <a:ext cx="2743200" cy="566928"/>
          </a:xfrm>
          <a:prstGeom prst="rect">
            <a:avLst/>
          </a:prstGeom>
          <a:solidFill>
            <a:srgbClr val="15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1069848"/>
            <a:ext cx="2651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Best R²  /  Acc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823960" y="1005840"/>
            <a:ext cx="2862072" cy="566928"/>
          </a:xfrm>
          <a:prstGeom prst="rect">
            <a:avLst/>
          </a:prstGeom>
          <a:solidFill>
            <a:srgbClr val="15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0" y="1069848"/>
            <a:ext cx="277063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Protocol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1572768"/>
            <a:ext cx="3017520" cy="493776"/>
          </a:xfrm>
          <a:prstGeom prst="rect">
            <a:avLst/>
          </a:prstGeom>
          <a:solidFill>
            <a:srgbClr val="E6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1627632"/>
            <a:ext cx="2926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5233E"/>
                </a:solidFill>
                <a:latin typeface="Calibri"/>
              </a:rPr>
              <a:t>Hoang &amp; Nguyen 2025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20440" y="1572768"/>
            <a:ext cx="2560320" cy="493776"/>
          </a:xfrm>
          <a:prstGeom prst="rect">
            <a:avLst/>
          </a:prstGeom>
          <a:solidFill>
            <a:srgbClr val="E6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66160" y="1627632"/>
            <a:ext cx="2468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81818"/>
                </a:solidFill>
                <a:latin typeface="Calibri"/>
              </a:rPr>
              <a:t>Da Nang (VN)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80760" y="1572768"/>
            <a:ext cx="2743200" cy="493776"/>
          </a:xfrm>
          <a:prstGeom prst="rect">
            <a:avLst/>
          </a:prstGeom>
          <a:solidFill>
            <a:srgbClr val="E6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0" y="1627632"/>
            <a:ext cx="2651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81818"/>
                </a:solidFill>
                <a:latin typeface="Calibri"/>
              </a:rPr>
              <a:t>R² = 0.90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823960" y="1572768"/>
            <a:ext cx="2862072" cy="493776"/>
          </a:xfrm>
          <a:prstGeom prst="rect">
            <a:avLst/>
          </a:prstGeom>
          <a:solidFill>
            <a:srgbClr val="E6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69680" y="1627632"/>
            <a:ext cx="277063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81818"/>
                </a:solidFill>
                <a:latin typeface="Calibri"/>
              </a:rPr>
              <a:t>Single 70/30 split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2066544"/>
            <a:ext cx="301752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2121408"/>
            <a:ext cx="2926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5233E"/>
                </a:solidFill>
                <a:latin typeface="Calibri"/>
              </a:rPr>
              <a:t>Lynda et al. 2025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20440" y="2066544"/>
            <a:ext cx="256032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6160" y="2121408"/>
            <a:ext cx="2468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81818"/>
                </a:solidFill>
                <a:latin typeface="Calibri"/>
              </a:rPr>
              <a:t>Africa (10 K cities)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80760" y="2066544"/>
            <a:ext cx="274320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26480" y="2121408"/>
            <a:ext cx="2651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81818"/>
                </a:solidFill>
                <a:latin typeface="Calibri"/>
              </a:rPr>
              <a:t>R² = 0.84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823960" y="2066544"/>
            <a:ext cx="2862072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69680" y="2121408"/>
            <a:ext cx="277063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81818"/>
                </a:solidFill>
                <a:latin typeface="Calibri"/>
              </a:rPr>
              <a:t>10-fold CV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2560320"/>
            <a:ext cx="3017520" cy="493776"/>
          </a:xfrm>
          <a:prstGeom prst="rect">
            <a:avLst/>
          </a:prstGeom>
          <a:solidFill>
            <a:srgbClr val="E6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2615184"/>
            <a:ext cx="2926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5233E"/>
                </a:solidFill>
                <a:latin typeface="Calibri"/>
              </a:rPr>
              <a:t>Manna et al. 2026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20440" y="2560320"/>
            <a:ext cx="2560320" cy="493776"/>
          </a:xfrm>
          <a:prstGeom prst="rect">
            <a:avLst/>
          </a:prstGeom>
          <a:solidFill>
            <a:srgbClr val="E6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66160" y="2615184"/>
            <a:ext cx="2468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81818"/>
                </a:solidFill>
                <a:latin typeface="Calibri"/>
              </a:rPr>
              <a:t>Mumbai (India)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80760" y="2560320"/>
            <a:ext cx="2743200" cy="493776"/>
          </a:xfrm>
          <a:prstGeom prst="rect">
            <a:avLst/>
          </a:prstGeom>
          <a:solidFill>
            <a:srgbClr val="E6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26480" y="2615184"/>
            <a:ext cx="2651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81818"/>
                </a:solidFill>
                <a:latin typeface="Calibri"/>
              </a:rPr>
              <a:t>R² = 0.80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823960" y="2560320"/>
            <a:ext cx="2862072" cy="493776"/>
          </a:xfrm>
          <a:prstGeom prst="rect">
            <a:avLst/>
          </a:prstGeom>
          <a:solidFill>
            <a:srgbClr val="E6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869680" y="2615184"/>
            <a:ext cx="277063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81818"/>
                </a:solidFill>
                <a:latin typeface="Calibri"/>
              </a:rPr>
              <a:t>In-sample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3054096"/>
            <a:ext cx="301752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3108960"/>
            <a:ext cx="2926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5233E"/>
                </a:solidFill>
                <a:latin typeface="Calibri"/>
              </a:rPr>
              <a:t>Kusumadewi et al. 2025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520440" y="3054096"/>
            <a:ext cx="256032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566160" y="3108960"/>
            <a:ext cx="2468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81818"/>
                </a:solidFill>
                <a:latin typeface="Calibri"/>
              </a:rPr>
              <a:t>Malang (Indonesia)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80760" y="3054096"/>
            <a:ext cx="274320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26480" y="3108960"/>
            <a:ext cx="2651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81818"/>
                </a:solidFill>
                <a:latin typeface="Calibri"/>
              </a:rPr>
              <a:t>R² = 0.81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823960" y="3054096"/>
            <a:ext cx="2862072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869680" y="3108960"/>
            <a:ext cx="277063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81818"/>
                </a:solidFill>
                <a:latin typeface="Calibri"/>
              </a:rPr>
              <a:t>Held-out split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02920" y="3547872"/>
            <a:ext cx="3017520" cy="493776"/>
          </a:xfrm>
          <a:prstGeom prst="rect">
            <a:avLst/>
          </a:prstGeom>
          <a:solidFill>
            <a:srgbClr val="E6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8640" y="3602736"/>
            <a:ext cx="2926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5233E"/>
                </a:solidFill>
                <a:latin typeface="Calibri"/>
              </a:rPr>
              <a:t>Mansouri &amp; Erfani 2025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520440" y="3547872"/>
            <a:ext cx="2560320" cy="493776"/>
          </a:xfrm>
          <a:prstGeom prst="rect">
            <a:avLst/>
          </a:prstGeom>
          <a:solidFill>
            <a:srgbClr val="E6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566160" y="3602736"/>
            <a:ext cx="2468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81818"/>
                </a:solidFill>
                <a:latin typeface="Calibri"/>
              </a:rPr>
              <a:t>USA Midwest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080760" y="3547872"/>
            <a:ext cx="2743200" cy="493776"/>
          </a:xfrm>
          <a:prstGeom prst="rect">
            <a:avLst/>
          </a:prstGeom>
          <a:solidFill>
            <a:srgbClr val="E6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126480" y="3602736"/>
            <a:ext cx="2651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81818"/>
                </a:solidFill>
                <a:latin typeface="Calibri"/>
              </a:rPr>
              <a:t>Acc=0.76, AUC=0.91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823960" y="3547872"/>
            <a:ext cx="2862072" cy="493776"/>
          </a:xfrm>
          <a:prstGeom prst="rect">
            <a:avLst/>
          </a:prstGeom>
          <a:solidFill>
            <a:srgbClr val="E6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869680" y="3602736"/>
            <a:ext cx="277063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81818"/>
                </a:solidFill>
                <a:latin typeface="Calibri"/>
              </a:rPr>
              <a:t>Stratified CV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02920" y="4041648"/>
            <a:ext cx="301752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48640" y="4096512"/>
            <a:ext cx="2926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5233E"/>
                </a:solidFill>
                <a:latin typeface="Calibri"/>
              </a:rPr>
              <a:t>Ours  ★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520440" y="4041648"/>
            <a:ext cx="256032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566160" y="4096512"/>
            <a:ext cx="2468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81818"/>
                </a:solidFill>
                <a:latin typeface="Calibri"/>
              </a:rPr>
              <a:t>Bengaluru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080760" y="4041648"/>
            <a:ext cx="274320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126480" y="4096512"/>
            <a:ext cx="2651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81818"/>
                </a:solidFill>
                <a:latin typeface="Calibri"/>
              </a:rPr>
              <a:t>R²=0.7940, AUC=0.8946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823960" y="4041648"/>
            <a:ext cx="2862072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869680" y="4096512"/>
            <a:ext cx="277063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81818"/>
                </a:solidFill>
                <a:latin typeface="Calibri"/>
              </a:rPr>
              <a:t>Stratified 5-fold ✓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02920" y="4626864"/>
            <a:ext cx="111831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05050"/>
                </a:solidFill>
                <a:latin typeface="Calibri"/>
              </a:rPr>
              <a:t>★ Norm-RMSE = RMSE/σ_LST = 0.453 — only fair cross-paper metric (different protocols invalidate direct R² comparison)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5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64008" cy="5943600"/>
          </a:xfrm>
          <a:prstGeom prst="rect">
            <a:avLst/>
          </a:prstGeom>
          <a:solidFill>
            <a:srgbClr val="1F7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16852"/>
            <a:ext cx="12188952" cy="41148"/>
          </a:xfrm>
          <a:prstGeom prst="rect">
            <a:avLst/>
          </a:prstGeom>
          <a:solidFill>
            <a:srgbClr val="D49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09728"/>
            <a:ext cx="1164031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Spatial Block CV — Geographic Robustness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987552"/>
            <a:ext cx="11640312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KMeans (k=10) clusters all 2,433 Bengaluru points into 10 geographic blocks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Train on 9 blocks, test on 1 — no test point is geographically near any training point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Result: R² ≈ 0.72–0.74  (vs 0.7940 stratified) — small drop, model genuinely generalises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600" b="1" i="0">
                <a:solidFill>
                  <a:srgbClr val="1F788A"/>
                </a:solidFill>
                <a:latin typeface="Calibri"/>
              </a:rPr>
              <a:t>What Spatial Block CV validates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Model learns physical relationships (heat, vegetation, morphology), not coordinate interpolation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Landsat grid data has strong spatial autocorrelation — independence test is critical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600" b="1" i="0">
                <a:solidFill>
                  <a:srgbClr val="1F788A"/>
                </a:solidFill>
                <a:latin typeface="Calibri"/>
              </a:rPr>
              <a:t>Why Stratified 5-fold remains the headline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Spatial Block CV: only 10% of data in each test fold → higher variance estimate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Stratified 5-fold: 20% test per fold, 5 estimates → published standard for reporting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600" b="1" i="0">
                <a:solidFill>
                  <a:srgbClr val="1F788A"/>
                </a:solidFill>
                <a:latin typeface="Calibri"/>
              </a:rPr>
              <a:t>Comparison to literature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Only Mansouri (2025) among our 11 surveyed papers uses comparable validation rigour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Most published R² values are inflated vs honest stratified estimates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5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64008" cy="5943600"/>
          </a:xfrm>
          <a:prstGeom prst="rect">
            <a:avLst/>
          </a:prstGeom>
          <a:solidFill>
            <a:srgbClr val="1F7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16852"/>
            <a:ext cx="12188952" cy="41148"/>
          </a:xfrm>
          <a:prstGeom prst="rect">
            <a:avLst/>
          </a:prstGeom>
          <a:solidFill>
            <a:srgbClr val="D49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09728"/>
            <a:ext cx="1164031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Within-City CV — BLR vs Pune on 18 Common Features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987552"/>
            <a:ext cx="11640312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Experiment: run same 5-fold CV protocol on each city independently with 18 common features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600" b="1" i="0">
                <a:solidFill>
                  <a:srgbClr val="1F788A"/>
                </a:solidFill>
                <a:latin typeface="Calibri"/>
              </a:rPr>
              <a:t>Results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BLR alone   (20 features, z-scored, 2,433 pts):  R² = 0.7934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Pune alone  (20 features, z-scored, 2,382 pts):  R² = 0.7194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BLR alone   (20 features, raw target):            R² = 0.7940  (z-scoring barely affects trees)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600" b="1" i="0">
                <a:solidFill>
                  <a:srgbClr val="1F788A"/>
                </a:solidFill>
                <a:latin typeface="Calibri"/>
              </a:rPr>
              <a:t>Why is Pune lower than BLR?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Pune LST is z-scored → less absolute variance → tree splits carry less information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Pune has a smoother spatial LST distribution — fewer extreme hotspots to learn from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600" b="1" i="0">
                <a:solidFill>
                  <a:srgbClr val="1F788A"/>
                </a:solidFill>
                <a:latin typeface="Calibri"/>
              </a:rPr>
              <a:t>Combined model (BLR + Pune together): R² = 0.7497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Old result with 18 features was 0.7005 — adding the 3 missing features adds +0.049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Both cities above 0.71 R² individually; combined pools 4,815 points across both cities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600" b="1" i="0">
                <a:solidFill>
                  <a:srgbClr val="1F788A"/>
                </a:solidFill>
                <a:latin typeface="Calibri"/>
              </a:rPr>
              <a:t>Takeaway: using all 20 shared features matters — the 18-feat COMMON was leaving signal on the table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5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64008" cy="5943600"/>
          </a:xfrm>
          <a:prstGeom prst="rect">
            <a:avLst/>
          </a:prstGeom>
          <a:solidFill>
            <a:srgbClr val="1F7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16852"/>
            <a:ext cx="12188952" cy="41148"/>
          </a:xfrm>
          <a:prstGeom prst="rect">
            <a:avLst/>
          </a:prstGeom>
          <a:solidFill>
            <a:srgbClr val="D49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09728"/>
            <a:ext cx="1164031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Cross-City Transfer — All Configurations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05840"/>
            <a:ext cx="6153912" cy="566928"/>
          </a:xfrm>
          <a:prstGeom prst="rect">
            <a:avLst/>
          </a:prstGeom>
          <a:solidFill>
            <a:srgbClr val="15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069848"/>
            <a:ext cx="606247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Configuration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6656832" y="1005840"/>
            <a:ext cx="2286000" cy="566928"/>
          </a:xfrm>
          <a:prstGeom prst="rect">
            <a:avLst/>
          </a:prstGeom>
          <a:solidFill>
            <a:srgbClr val="15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02552" y="1069848"/>
            <a:ext cx="2194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Features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42832" y="1005840"/>
            <a:ext cx="2743200" cy="566928"/>
          </a:xfrm>
          <a:prstGeom prst="rect">
            <a:avLst/>
          </a:prstGeom>
          <a:solidFill>
            <a:srgbClr val="15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88552" y="1069848"/>
            <a:ext cx="2651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R²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1572768"/>
            <a:ext cx="6153912" cy="493776"/>
          </a:xfrm>
          <a:prstGeom prst="rect">
            <a:avLst/>
          </a:prstGeom>
          <a:solidFill>
            <a:srgbClr val="E6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1627632"/>
            <a:ext cx="60624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5233E"/>
                </a:solidFill>
                <a:latin typeface="Calibri"/>
              </a:rPr>
              <a:t>Naive BLR→Pune (raw features, z-scored targets)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56832" y="1572768"/>
            <a:ext cx="2286000" cy="493776"/>
          </a:xfrm>
          <a:prstGeom prst="rect">
            <a:avLst/>
          </a:prstGeom>
          <a:solidFill>
            <a:srgbClr val="E6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02552" y="1627632"/>
            <a:ext cx="2194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81818"/>
                </a:solidFill>
                <a:latin typeface="Calibri"/>
              </a:rPr>
              <a:t>20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42832" y="1572768"/>
            <a:ext cx="2743200" cy="493776"/>
          </a:xfrm>
          <a:prstGeom prst="rect">
            <a:avLst/>
          </a:prstGeom>
          <a:solidFill>
            <a:srgbClr val="E6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88552" y="1627632"/>
            <a:ext cx="2651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81818"/>
                </a:solidFill>
                <a:latin typeface="Calibri"/>
              </a:rPr>
              <a:t>−0.2443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2066544"/>
            <a:ext cx="6153912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2121408"/>
            <a:ext cx="60624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5233E"/>
                </a:solidFill>
                <a:latin typeface="Calibri"/>
              </a:rPr>
              <a:t>Naive Pune→BLR (raw features, z-scored targets)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56832" y="2066544"/>
            <a:ext cx="228600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02552" y="2121408"/>
            <a:ext cx="2194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81818"/>
                </a:solidFill>
                <a:latin typeface="Calibri"/>
              </a:rPr>
              <a:t>20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42832" y="2066544"/>
            <a:ext cx="274320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88552" y="2121408"/>
            <a:ext cx="2651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81818"/>
                </a:solidFill>
                <a:latin typeface="Calibri"/>
              </a:rPr>
              <a:t>−0.1232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2560320"/>
            <a:ext cx="6153912" cy="493776"/>
          </a:xfrm>
          <a:prstGeom prst="rect">
            <a:avLst/>
          </a:prstGeom>
          <a:solidFill>
            <a:srgbClr val="E6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2615184"/>
            <a:ext cx="60624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5233E"/>
                </a:solidFill>
                <a:latin typeface="Calibri"/>
              </a:rPr>
              <a:t>Per-city z-score BLR→Pune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56832" y="2560320"/>
            <a:ext cx="2286000" cy="493776"/>
          </a:xfrm>
          <a:prstGeom prst="rect">
            <a:avLst/>
          </a:prstGeom>
          <a:solidFill>
            <a:srgbClr val="E6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02552" y="2615184"/>
            <a:ext cx="2194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81818"/>
                </a:solidFill>
                <a:latin typeface="Calibri"/>
              </a:rPr>
              <a:t>20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942832" y="2560320"/>
            <a:ext cx="2743200" cy="493776"/>
          </a:xfrm>
          <a:prstGeom prst="rect">
            <a:avLst/>
          </a:prstGeom>
          <a:solidFill>
            <a:srgbClr val="E6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88552" y="2615184"/>
            <a:ext cx="2651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81818"/>
                </a:solidFill>
                <a:latin typeface="Calibri"/>
              </a:rPr>
              <a:t>+0.1662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3054096"/>
            <a:ext cx="6153912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3108960"/>
            <a:ext cx="60624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5233E"/>
                </a:solidFill>
                <a:latin typeface="Calibri"/>
              </a:rPr>
              <a:t>Per-city z-score Pune→BLR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56832" y="3054096"/>
            <a:ext cx="228600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02552" y="3108960"/>
            <a:ext cx="2194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81818"/>
                </a:solidFill>
                <a:latin typeface="Calibri"/>
              </a:rPr>
              <a:t>20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942832" y="3054096"/>
            <a:ext cx="274320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988552" y="3108960"/>
            <a:ext cx="2651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81818"/>
                </a:solidFill>
                <a:latin typeface="Calibri"/>
              </a:rPr>
              <a:t>+0.1273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" y="3547872"/>
            <a:ext cx="6153912" cy="493776"/>
          </a:xfrm>
          <a:prstGeom prst="rect">
            <a:avLst/>
          </a:prstGeom>
          <a:solidFill>
            <a:srgbClr val="E6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3602736"/>
            <a:ext cx="60624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5233E"/>
                </a:solidFill>
                <a:latin typeface="Calibri"/>
              </a:rPr>
              <a:t>BLR alone, within-city 5-fold CV (raw target)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656832" y="3547872"/>
            <a:ext cx="2286000" cy="493776"/>
          </a:xfrm>
          <a:prstGeom prst="rect">
            <a:avLst/>
          </a:prstGeom>
          <a:solidFill>
            <a:srgbClr val="E6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02552" y="3602736"/>
            <a:ext cx="2194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81818"/>
                </a:solidFill>
                <a:latin typeface="Calibri"/>
              </a:rPr>
              <a:t>20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942832" y="3547872"/>
            <a:ext cx="2743200" cy="493776"/>
          </a:xfrm>
          <a:prstGeom prst="rect">
            <a:avLst/>
          </a:prstGeom>
          <a:solidFill>
            <a:srgbClr val="E6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988552" y="3602736"/>
            <a:ext cx="2651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81818"/>
                </a:solidFill>
                <a:latin typeface="Calibri"/>
              </a:rPr>
              <a:t> 0.7940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2920" y="4041648"/>
            <a:ext cx="6153912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8640" y="4096512"/>
            <a:ext cx="60624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5233E"/>
                </a:solidFill>
                <a:latin typeface="Calibri"/>
              </a:rPr>
              <a:t>BLR alone, within-city CV (z-scored target)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656832" y="4041648"/>
            <a:ext cx="228600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702552" y="4096512"/>
            <a:ext cx="2194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81818"/>
                </a:solidFill>
                <a:latin typeface="Calibri"/>
              </a:rPr>
              <a:t>20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942832" y="4041648"/>
            <a:ext cx="274320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988552" y="4096512"/>
            <a:ext cx="2651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81818"/>
                </a:solidFill>
                <a:latin typeface="Calibri"/>
              </a:rPr>
              <a:t> 0.7934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02920" y="4535424"/>
            <a:ext cx="6153912" cy="493776"/>
          </a:xfrm>
          <a:prstGeom prst="rect">
            <a:avLst/>
          </a:prstGeom>
          <a:solidFill>
            <a:srgbClr val="E6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48640" y="4590288"/>
            <a:ext cx="60624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5233E"/>
                </a:solidFill>
                <a:latin typeface="Calibri"/>
              </a:rPr>
              <a:t>Pune alone, within-city 5-fold CV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656832" y="4535424"/>
            <a:ext cx="2286000" cy="493776"/>
          </a:xfrm>
          <a:prstGeom prst="rect">
            <a:avLst/>
          </a:prstGeom>
          <a:solidFill>
            <a:srgbClr val="E6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702552" y="4590288"/>
            <a:ext cx="2194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81818"/>
                </a:solidFill>
                <a:latin typeface="Calibri"/>
              </a:rPr>
              <a:t>20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942832" y="4535424"/>
            <a:ext cx="2743200" cy="493776"/>
          </a:xfrm>
          <a:prstGeom prst="rect">
            <a:avLst/>
          </a:prstGeom>
          <a:solidFill>
            <a:srgbClr val="E6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988552" y="4590288"/>
            <a:ext cx="2651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81818"/>
                </a:solidFill>
                <a:latin typeface="Calibri"/>
              </a:rPr>
              <a:t> 0.7194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02920" y="5029200"/>
            <a:ext cx="6153912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48640" y="5084064"/>
            <a:ext cx="60624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5233E"/>
                </a:solidFill>
                <a:latin typeface="Calibri"/>
              </a:rPr>
              <a:t>Combined model (BLR + Pune), 5-fold CV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656832" y="5029200"/>
            <a:ext cx="228600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702552" y="5084064"/>
            <a:ext cx="2194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81818"/>
                </a:solidFill>
                <a:latin typeface="Calibri"/>
              </a:rPr>
              <a:t>20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942832" y="5029200"/>
            <a:ext cx="274320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988552" y="5084064"/>
            <a:ext cx="2651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81818"/>
                </a:solidFill>
                <a:latin typeface="Calibri"/>
              </a:rPr>
              <a:t> 0.7497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02920" y="5614416"/>
            <a:ext cx="111831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05050"/>
                </a:solidFill>
                <a:latin typeface="Calibri"/>
              </a:rPr>
              <a:t>Key lesson: per-city z-score of features is mandatory. Using full 20-feat set adds +0.049 R² vs old 18-feat combined (0.7005→0.7497)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5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64008" cy="5943600"/>
          </a:xfrm>
          <a:prstGeom prst="rect">
            <a:avLst/>
          </a:prstGeom>
          <a:solidFill>
            <a:srgbClr val="1F7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16852"/>
            <a:ext cx="12188952" cy="41148"/>
          </a:xfrm>
          <a:prstGeom prst="rect">
            <a:avLst/>
          </a:prstGeom>
          <a:solidFill>
            <a:srgbClr val="D49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09728"/>
            <a:ext cx="1164031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Group-wise Novelty Ablation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987552"/>
            <a:ext cx="11640312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Question: are the novel features genuinely necessary, or just redundant with standard ones?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600" b="1" i="0">
                <a:solidFill>
                  <a:srgbClr val="1F788A"/>
                </a:solidFill>
                <a:latin typeface="Calibri"/>
              </a:rPr>
              <a:t>Protocol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Remove all 11 novel features from the model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505050"/>
                </a:solidFill>
                <a:latin typeface="Calibri"/>
              </a:rPr>
              <a:t>    ‣  RWI, Dist_to_RWI_Node, NO2_Emissions, SVF_Proxy, Height_Variability,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505050"/>
                </a:solidFill>
                <a:latin typeface="Calibri"/>
              </a:rPr>
              <a:t>    ‣  Building_Density_Ratio, Street_Density, Dist_Highway, Dist_Park, Dist_Water, Albedo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Retrain ensemble on remaining 9 standard features only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600" b="1" i="0">
                <a:solidFill>
                  <a:srgbClr val="1F788A"/>
                </a:solidFill>
                <a:latin typeface="Calibri"/>
              </a:rPr>
              <a:t>Result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Standard features only (9 features):  R² = 0.6605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Full model         (20 features):      R² = 0.7940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ΔR²  =  +0.1335  →  novel features explain 17% of total LST variance (irreplaceable)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600" b="1" i="0">
                <a:solidFill>
                  <a:srgbClr val="1F788A"/>
                </a:solidFill>
                <a:latin typeface="Calibri"/>
              </a:rPr>
              <a:t>SHAP (43.4%) vs Ablation (17%) — two different questions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SHAP = how much does the trained model rely on novel features  (attribution)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Ablation = how much variance is irreplaceable if removed  (necessity)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Gap: standard features carry some of the same signal → correlated information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5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64008" cy="5943600"/>
          </a:xfrm>
          <a:prstGeom prst="rect">
            <a:avLst/>
          </a:prstGeom>
          <a:solidFill>
            <a:srgbClr val="1F7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16852"/>
            <a:ext cx="12188952" cy="41148"/>
          </a:xfrm>
          <a:prstGeom prst="rect">
            <a:avLst/>
          </a:prstGeom>
          <a:solidFill>
            <a:srgbClr val="D49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09728"/>
            <a:ext cx="1164031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SHAP Feature Attribution — TreeSHAP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987552"/>
            <a:ext cx="11640312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TreeSHAP: exact Shapley values for tree ensembles (no approximation needed)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Metric: mean |SHAP value| = average absolute contribution to each prediction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600" b="1" i="0">
                <a:solidFill>
                  <a:srgbClr val="1F788A"/>
                </a:solidFill>
                <a:latin typeface="Calibri"/>
              </a:rPr>
              <a:t>Top 8 features by attribution  (verified from shap_results.csv)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1.  NDBI                   20.53%  (built-up surfaces absorb &amp; re-radiate heat — dominant)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2.  Relative_Humidity      12.73%  (moisture suppresses LST peaks via latent heat)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3.  Relative_Wealth_Index  12.28%  ★ novel — richer areas → more AC → heat rejection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4.  NO2_Emissions           9.64%  ★ novel — anthropogenic combustion heat proxy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5.  MODIS_LST               5.81%  (cross-sensor LST corroboration)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6.  Soil_Moisture           5.39%  (latent heat flux cooling signal)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7.  Dist_Water              5.32%  ★ novel — proximity to water bodies cools LST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8.  Dist_Park               4.08%  ★ novel — green space proximity cooling effect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600" b="1" i="0">
                <a:solidFill>
                  <a:srgbClr val="1F788A"/>
                </a:solidFill>
                <a:latin typeface="Calibri"/>
              </a:rPr>
              <a:t>Novel features in aggregate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Total SHAP attribution from all 11 novel features:  43.4%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RWI alone (12.28%) outranks NDVI (3.76%) — socioeconomics is a genuine independent driver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5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F7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D49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166360" y="1481328"/>
            <a:ext cx="1856231" cy="594360"/>
          </a:xfrm>
          <a:prstGeom prst="rect">
            <a:avLst/>
          </a:prstGeom>
          <a:solidFill>
            <a:srgbClr val="1F7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66360" y="1499616"/>
            <a:ext cx="1856231" cy="557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SECTION  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31720"/>
            <a:ext cx="1081735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Conclusions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749039"/>
            <a:ext cx="94457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C8E4EA"/>
                </a:solidFill>
                <a:latin typeface="Calibri"/>
              </a:rPr>
              <a:t>What We Found, Why It Matters, What Comes Next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5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64008" cy="5943600"/>
          </a:xfrm>
          <a:prstGeom prst="rect">
            <a:avLst/>
          </a:prstGeom>
          <a:solidFill>
            <a:srgbClr val="1F7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16852"/>
            <a:ext cx="12188952" cy="41148"/>
          </a:xfrm>
          <a:prstGeom prst="rect">
            <a:avLst/>
          </a:prstGeom>
          <a:solidFill>
            <a:srgbClr val="D49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09728"/>
            <a:ext cx="1164031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Key Findings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987552"/>
            <a:ext cx="11640312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600" b="1" i="0">
                <a:solidFill>
                  <a:srgbClr val="1F788A"/>
                </a:solidFill>
                <a:latin typeface="Calibri"/>
              </a:rPr>
              <a:t>Regression  (Stratified 5-fold CV, 2,433 points, 20 features)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Ensemble achieves  R² = 0.7940,  RMSE = 1.233 °C,  MAE = 0.887 °C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Ensemble outperforms best single model (CB=0.7875) by +0.0065 R²; main gain is lower RMSE &amp; stability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600" b="1" i="0">
                <a:solidFill>
                  <a:srgbClr val="1F788A"/>
                </a:solidFill>
                <a:latin typeface="Calibri"/>
              </a:rPr>
              <a:t>Novel features are genuinely necessary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Group-wise ablation:  ΔR² = +0.1335  →  17% of total LST variance explained by novel feats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SHAP attribution:  novel features account for 43.4% of all model attribution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RWI alone is the #3 most important feature (12.28%) — socioeconomics drive UHI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600" b="1" i="0">
                <a:solidFill>
                  <a:srgbClr val="1F788A"/>
                </a:solidFill>
                <a:latin typeface="Calibri"/>
              </a:rPr>
              <a:t>Classification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3-class UHI severity:  Accuracy = 0.7604,  F1 = 0.7599,  AUC = 0.8946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Matches Mansouri &amp; Erfani (2025) on Acc/F1 with 4.4× less data; AUC −0.015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600" b="1" i="0">
                <a:solidFill>
                  <a:srgbClr val="1F788A"/>
                </a:solidFill>
                <a:latin typeface="Calibri"/>
              </a:rPr>
              <a:t>Cross-city transfer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Per-city z-score alignment fixes negative transfer (−0.24 → +0.17 → 0.75 combined)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5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64008" cy="5943600"/>
          </a:xfrm>
          <a:prstGeom prst="rect">
            <a:avLst/>
          </a:prstGeom>
          <a:solidFill>
            <a:srgbClr val="1F7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16852"/>
            <a:ext cx="12188952" cy="41148"/>
          </a:xfrm>
          <a:prstGeom prst="rect">
            <a:avLst/>
          </a:prstGeom>
          <a:solidFill>
            <a:srgbClr val="D49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09728"/>
            <a:ext cx="1164031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Novelty Claims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987552"/>
            <a:ext cx="11640312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600" b="1" i="0">
                <a:solidFill>
                  <a:srgbClr val="1F788A"/>
                </a:solidFill>
                <a:latin typeface="Calibri"/>
              </a:rPr>
              <a:t>1.  First ML-based UHI study for Bengaluru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Zero prior papers in our 11-paper survey cover Bengaluru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600" b="1" i="0">
                <a:solidFill>
                  <a:srgbClr val="1F788A"/>
                </a:solidFill>
                <a:latin typeface="Calibri"/>
              </a:rPr>
              <a:t>2.  Novel feature combination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Only paper jointly combining Meta RWI + OSMnx 3D morphology + remote sensing + meteorological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600" b="1" i="0">
                <a:solidFill>
                  <a:srgbClr val="1F788A"/>
                </a:solidFill>
                <a:latin typeface="Calibri"/>
              </a:rPr>
              <a:t>3.  Cross-city domain adaptation for Indian cities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Only Indian-context UHI paper with empirically demonstrated cross-city transfer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Identified the feature scale-mismatch failure mode; fix: per-city z-score → R² −0.24 → +0.17 → 0.75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600" b="1" i="0">
                <a:solidFill>
                  <a:srgbClr val="1F788A"/>
                </a:solidFill>
                <a:latin typeface="Calibri"/>
              </a:rPr>
              <a:t>4.  Quantified novelty contribution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Ablation: ΔR² = +0.1335 from novel features (17% of total variance — irreplaceable)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SHAP: novel features = 43.4% of attribution; RWI (12.28%) outranks NDVI (3.76%)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600" b="1" i="0">
                <a:solidFill>
                  <a:srgbClr val="1F788A"/>
                </a:solidFill>
                <a:latin typeface="Calibri"/>
              </a:rPr>
              <a:t>5.  Honest, reproducible validation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Stratified 5-fold CV + Spatial Block CV — comparable rigour to only Mansouri (2025)</a:t>
            </a:r>
          </a:p>
          <a:p>
            <a:pPr>
              <a:spcAft>
                <a:spcPts val="200"/>
              </a:spcAft>
            </a:pPr>
            <a:r>
              <a:rPr sz="1500" b="0" i="0">
                <a:solidFill>
                  <a:srgbClr val="181818"/>
                </a:solidFill>
                <a:latin typeface="Calibri"/>
              </a:rPr>
              <a:t>•  Single verify_experiments.py script reproduces all reported numbers in ~4 minutes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5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64008" cy="5943600"/>
          </a:xfrm>
          <a:prstGeom prst="rect">
            <a:avLst/>
          </a:prstGeom>
          <a:solidFill>
            <a:srgbClr val="1F7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16852"/>
            <a:ext cx="12188952" cy="41148"/>
          </a:xfrm>
          <a:prstGeom prst="rect">
            <a:avLst/>
          </a:prstGeom>
          <a:solidFill>
            <a:srgbClr val="D49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09728"/>
            <a:ext cx="1164031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Limitations &amp; Future Work</a:t>
            </a:r>
          </a:p>
        </p:txBody>
      </p:sp>
      <p:sp>
        <p:nvSpPr>
          <p:cNvPr id="7" name="Rectangle 6"/>
          <p:cNvSpPr/>
          <p:nvPr/>
        </p:nvSpPr>
        <p:spPr>
          <a:xfrm>
            <a:off x="6236208" y="914400"/>
            <a:ext cx="22860" cy="5943600"/>
          </a:xfrm>
          <a:prstGeom prst="rect">
            <a:avLst/>
          </a:prstGeom>
          <a:solidFill>
            <a:srgbClr val="CECD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987552"/>
            <a:ext cx="5779008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500" b="1" i="0">
                <a:solidFill>
                  <a:srgbClr val="1F788A"/>
                </a:solidFill>
                <a:latin typeface="Calibri"/>
              </a:rPr>
              <a:t>Current limitations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181818"/>
                </a:solidFill>
                <a:latin typeface="Calibri"/>
              </a:rPr>
              <a:t>•  Single dry-season snapshot — captures summer-peak UHI only, not seasonal variation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181818"/>
                </a:solidFill>
                <a:latin typeface="Calibri"/>
              </a:rPr>
              <a:t>•  Small dataset (2,433 pts) relative to global UHI studies (5K–10K+)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181818"/>
                </a:solidFill>
                <a:latin typeface="Calibri"/>
              </a:rPr>
              <a:t>•  Volume_Density unusable: 84.8% missing — 3D building volume excluded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181818"/>
                </a:solidFill>
                <a:latin typeface="Calibri"/>
              </a:rPr>
              <a:t>•  No probabilistic uncertainty: point predictions only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181818"/>
                </a:solidFill>
                <a:latin typeface="Calibri"/>
              </a:rPr>
              <a:t>•  Directional transfer is positive but modest (+0.17 R²)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181818"/>
                </a:solidFill>
                <a:latin typeface="Calibri"/>
              </a:rPr>
              <a:t>•  Single-city training; cross-city generalisation still limited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987552"/>
            <a:ext cx="56235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500" b="1" i="0">
                <a:solidFill>
                  <a:srgbClr val="1F788A"/>
                </a:solidFill>
                <a:latin typeface="Calibri"/>
              </a:rPr>
              <a:t>Future work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181818"/>
                </a:solidFill>
                <a:latin typeface="Calibri"/>
              </a:rPr>
              <a:t>•  Multi-temporal dataset: monthly Landsat composites → seasonal UHI tracking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181818"/>
                </a:solidFill>
                <a:latin typeface="Calibri"/>
              </a:rPr>
              <a:t>•  Conformal prediction: calibrated uncertainty intervals per prediction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181818"/>
                </a:solidFill>
                <a:latin typeface="Calibri"/>
              </a:rPr>
              <a:t>•  Fine-grained road features: lane count, traffic volume, surface material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181818"/>
                </a:solidFill>
                <a:latin typeface="Calibri"/>
              </a:rPr>
              <a:t>•  Expand to pan-India model: 5 cities with unified z-score pipeline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181818"/>
                </a:solidFill>
                <a:latin typeface="Calibri"/>
              </a:rPr>
              <a:t>•  Causal analysis: which features can be targeted by policy interventions?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181818"/>
                </a:solidFill>
                <a:latin typeface="Calibri"/>
              </a:rPr>
              <a:t>•  Probabilistic classification: predict UHI class probabilities, not just labels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5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F7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D49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00200"/>
            <a:ext cx="10817352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2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108960"/>
            <a:ext cx="108173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C8E4EA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0" y="3913632"/>
            <a:ext cx="4507992" cy="41148"/>
          </a:xfrm>
          <a:prstGeom prst="rect">
            <a:avLst/>
          </a:prstGeom>
          <a:solidFill>
            <a:srgbClr val="D49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4096512"/>
            <a:ext cx="108173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Arnav Nathani  ·  Sahil Aleem  ·  Vayun Gupta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636008"/>
            <a:ext cx="108173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8B2C6"/>
                </a:solidFill>
                <a:latin typeface="Calibri"/>
              </a:rPr>
              <a:t>MLPR End-Term Project  ·  Plaksha University  ·  Spring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